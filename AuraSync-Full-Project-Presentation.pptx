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1:30 دقيقة]:</a:t>
            </a:r>
          </a:p>
          <a:p>
            <a:r>
              <a:t>• مرحباً بالحضور الكريم. اليوم نقدم لكم مشروع AuraSync (سحابه)، المشروع الذي يعيد تعريف مفهوم النسخ الاحتياطي السحابي والأمن السيبراني للأفراد والشركات.</a:t>
            </a:r>
          </a:p>
          <a:p>
            <a:r>
              <a:t>• في عالم تضيع فيه ملفات الملايين يومياً بسبب أخطاء الحذف المتزامن التبادلي أو هجمات الفدية، ابتكرنا منصة هجينة مستقلة بالكامل تجمع بين بيئة سطح المكتب الاحترافية وتطبيق الهاتف الذكي الأصلي.</a:t>
            </a:r>
          </a:p>
          <a:p>
            <a:r>
              <a:t>• لدينا اليوم أكثر من 25 سحابة وبروتوكول قياسي مدمجين في واجهة واحدة، وسياسة انعدام الحذف التي تضمن بقاء ملفاتك إلى الأبد، مع حارس المتصفحات المبتكر الذي يقفل نظام ويندوز بعد خطأين لحماية الخصوصية.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2:00 دقيقة]:</a:t>
            </a:r>
          </a:p>
          <a:p>
            <a:r>
              <a:t>• اسأل الحضور: كم واحد منكم حذف مجلد بالخطأ واكتشف أن جوجل درايف أو ون درايف حذفه فوراً من السحابة وهاتفه أيضاً؟</a:t>
            </a:r>
          </a:p>
          <a:p>
            <a:r>
              <a:t>• هذه هي المعضلة الأساسية الأولى: 'المزامنة ثنائية الاتجاه' هي أكبر كذبة أمنية، لأنها تحول خطأ المستخدم البسيط إلى كارثة فقدان نهائية.</a:t>
            </a:r>
          </a:p>
          <a:p>
            <a:r>
              <a:t>• المشكلة الثانية هي احتكار الشركات وتشتت الجيجابايتات المجانية بين المنصات، بالإضافة لأزمة امتلاء ذاكرة الهواتف بالصور، وانكشاف المتصفحات المفتوحة في المكاتب والمنازل.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1:45 دقيقة]:</a:t>
            </a:r>
          </a:p>
          <a:p>
            <a:r>
              <a:t>• استجابة لهذه التحديات، جاء AuraSync بـ 4 ركائز معمارية رئيسية:</a:t>
            </a:r>
          </a:p>
          <a:p>
            <a:r>
              <a:t>1. أولاً: سياسة انعدام الحذف — محرك ذكي يراقب النظام ويمنع حذف أي ملف سحابي مهما حدث محلياً.</a:t>
            </a:r>
          </a:p>
          <a:p>
            <a:r>
              <a:t>2. ثانياً: تجميع أكثر من 25 سحابة في منصة واحدة موحدة مع ميزة النقل المباشر من سحابة لأخرى في الرام.</a:t>
            </a:r>
          </a:p>
          <a:p>
            <a:r>
              <a:t>3. ثالثاً: حارس المتصفحات المبتكر Win+L الذي يقفل المتصفحات ويقفل نظام ويندوز عند محاولات التطفل.</a:t>
            </a:r>
          </a:p>
          <a:p>
            <a:r>
              <a:t>4. رابعاً: محرك التوربو فائق السرعة واستعادة الجهاز بالكامل بعد الفورمات بملف البصمة السحابية.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2:00 دقيقة]:</a:t>
            </a:r>
          </a:p>
          <a:p>
            <a:r>
              <a:t>• اشرح الخطوات الأربع في الأعلى: كيف يلتقط البرنامج حذف الملف في 5 ميلي ثانية، ويجمد أوامر السحابة فوراً، ثم يسجله كملف محفوظ (Preserved).</a:t>
            </a:r>
          </a:p>
          <a:p>
            <a:r>
              <a:t>• أكد على الفرق الجوهري: في البرامج العادية، حذف الملف = حذفه من السحابة. في AuraSync، حذف الملف = تحوله إلى أصل محفوظ بأمان مع تنبيه بصري هادئ.</a:t>
            </a:r>
          </a:p>
          <a:p>
            <a:r>
              <a:t>• إذا أراد المستخدم حذفه حقيقة، وفرنا له الحذف المشترك المتعمد عبر كليك يمين أو الواجهة بنقرة تأكيد واعية.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1:45 دقيقة]:</a:t>
            </a:r>
          </a:p>
          <a:p>
            <a:r>
              <a:t>• بدلاً من أن يقوم المستخدم بتثبيت 4 أو 5 برامج مزامنة مختلفة تستهلك ذاكرة الجهاز، جمعنا أكثر من 25 سحابة وبروتوكول قياسي في برنامج واحد.</a:t>
            </a:r>
          </a:p>
          <a:p>
            <a:r>
              <a:t>• ندعم السحابات التجارية الكبرى، السحابات المشفرة مثل Mega وتليجرام غير المحدود، وكذلك بروتوكولات الشركات المفتوحة S3 و WebDAV للخوادم الخاصة وأجهزة NAS.</a:t>
            </a:r>
          </a:p>
          <a:p>
            <a:r>
              <a:t>• ميزة النقل المباشر بين السحابات (Cross-Cloud Transfer): تستطيع نقل 50GB من جوجل درايف إلى ون درايف عبر تيار بيانات يمر في الرام فقط دون أن يلمس قرصك الصلب نهائياً.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1:45 دقيقة]:</a:t>
            </a:r>
          </a:p>
          <a:p>
            <a:r>
              <a:t>• المعمارية البرمجية للمشروع ليست تطبيقاً هجيناً بطيئاً، بل مساران مستقلان صُمما بأعلى معايير هندسة البرمجيات.</a:t>
            </a:r>
          </a:p>
          <a:p>
            <a:r>
              <a:t>• على الحاسوب: محرك Electron مع واجهة React 18، وقاعدة بيانات SQLite مجمعة، واستدعاءات Win32 أصيلة تضمن استهلاكاً أقل من 65MB رام.</a:t>
            </a:r>
          </a:p>
          <a:p>
            <a:r>
              <a:t>• على الهاتف: تطبيق أندرويد أصلي بلغة Java ومستشعر بصمة أصلي BiometricPrompt، يستقبل مئات الصور دفعة واحدة من معرض الهاتف ويرفعها مباشرة.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2:00 دقيقة]:</a:t>
            </a:r>
          </a:p>
          <a:p>
            <a:r>
              <a:t>• هذه الشريحة موجهة للمهندسين والمعماريين التقنيين:</a:t>
            </a:r>
          </a:p>
          <a:p>
            <a:r>
              <a:t>1. نقلنا سرعة فحص 40 ألف ملف من 3 دقائق إلى 4 ثوانٍ فقط بفضل استعلامات SQLite الدفعية المجمعة.</a:t>
            </a:r>
          </a:p>
          <a:p>
            <a:r>
              <a:t>2. تفادينا مشكلة حظر جوجل درايف الشهيرة (Rate Limit 429) بابتكار شجرة كاش المجلدات بالذاكرة.</a:t>
            </a:r>
          </a:p>
          <a:p>
            <a:r>
              <a:t>3. حللنا معضلة أقفال ملفات ويندوز EBUSY بالتحديث الصامت بالدلتا في 800 ميلي ثانية.</a:t>
            </a:r>
          </a:p>
          <a:p>
            <a:r>
              <a:t>4. فلترة صارمة لملفات النظام مثل desktop.ini لتبقى السحابة نظيفة 100%.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1:45 دقيقة]:</a:t>
            </a:r>
          </a:p>
          <a:p>
            <a:r>
              <a:t>• أزمة كل مستخدم هاتف ذكي هي امتلاء ذاكرة الهاتف وظهور رسالة 'مساحة التخزين غير كافية'.</a:t>
            </a:r>
          </a:p>
          <a:p>
            <a:r>
              <a:t>• يقدم AuraSync حلاً جذرياً: حدد المعرض بالكامل — 900 صورة أو 2000 صورة — وشاركها بنقرة واحدة مع التطبيق ليتم رفعها تلقائياً إلى مجلد aurasync-mobile الخاص في سحابتك المفضلة.</a:t>
            </a:r>
          </a:p>
          <a:p>
            <a:r>
              <a:t>• التطبيق مؤمن بالبصمة البيومترية الحقيقية مع خيارات ذكية للحفاظ على باقة البيانات والبطارية.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2:00 دقيقة]:</a:t>
            </a:r>
          </a:p>
          <a:p>
            <a:r>
              <a:t>• هنا الابتكار الأمني الحصري الذي يخطف الأنظار في AuraSync:</a:t>
            </a:r>
          </a:p>
          <a:p>
            <a:r>
              <a:t>• تخيل أنك تركت حاسوبك في المكتب وذهب لإحضار كوب قهوة. أي شخص يقترب ويضغط على أيقونة Chrome أو Edge لقراءة محادثاتك أو بريدك... يُفاجأ بحارس المتصفح يطلب رمز PIN فوراً!</a:t>
            </a:r>
          </a:p>
          <a:p>
            <a:r>
              <a:t>• وإذا حاول التخمين مرتين بالخطأ، يقوم AuraSync بقفل نظام ويندوز بالكامل فوراً عبر Win+L لحماية أسرار حاسوبك بالكامل!</a:t>
            </a:r>
          </a:p>
          <a:p>
            <a:r>
              <a:t>• إضافة إلى التشفير العسكري AES-256 للمجلدات الحساسة بنظام الجلسة المعزولة.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1:30 دقيقة]:</a:t>
            </a:r>
          </a:p>
          <a:p>
            <a:r>
              <a:t>• كابوس كل مستخدم هو فورمات الحاسوب أو شراء جهاز جديد: ساعات طويلة في تنزيل الملفات وترتيب سطح المكتب والمستندات.</a:t>
            </a:r>
          </a:p>
          <a:p>
            <a:r>
              <a:t>• مع AuraSync: تثبت البرنامج على جهازك الجديد، وتضغط 'استعادة بنقرة واحدة'. يقرأ البرنامج ملف المانيفست السحابي aurasync-machine-manifest.json، ويعيد بناء سطح المكتب والمجلدات بنفس الهيكل والترتيب فوراً وبأقصى سرعة تنزيل ممكنة.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1:45 دقيقة]:</a:t>
            </a:r>
          </a:p>
          <a:p>
            <a:r>
              <a:t>• الكثير من المستخدمين لديهم خطوط ألياف ضوئية فائقة السرعة (Gigabit Fiber)، لكن عند رفع الملفات إلى Google Drive يجدون السرعة بطيئة جداً بسبب زمن الـ HTTP Latency لكل ملف.</a:t>
            </a:r>
          </a:p>
          <a:p>
            <a:r>
              <a:t>• ابتكرنا محرك التوربو المتوازي (حتى 32 عاملاً): يرفع 32 ملفاً بالتزامن في نفس الجزء من الثانية، مشبعاً خط الفايبر بالكامل وموفراً ساعات من الانتظار.</a:t>
            </a:r>
          </a:p>
          <a:p>
            <a:r>
              <a:t>• مع الحفاظ على استهلاك خفيف جداً للذاكرة أقل من 65MB رام.</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1:30 دقيقة]:</a:t>
            </a:r>
          </a:p>
          <a:p>
            <a:r>
              <a:t>• البرمجيات العظيمة لا تكتفي بكونها قوية هندسياً، بل يجب أن تأسر عين المستخدم.</a:t>
            </a:r>
          </a:p>
          <a:p>
            <a:r>
              <a:t>• بنينا نظام التصميم Calm Design: ثلاث ثيمات حقيقية فاخرة:</a:t>
            </a:r>
          </a:p>
          <a:p>
            <a:r>
              <a:t>1. الأسود الفاحم Pure Pitch Black للمحترفين وشاشات OLED.</a:t>
            </a:r>
          </a:p>
          <a:p>
            <a:r>
              <a:t>2. الكحلي الملكي Midnight Sapphire.</a:t>
            </a:r>
          </a:p>
          <a:p>
            <a:r>
              <a:t>3. الأبيض اللؤلؤي Pristine White.</a:t>
            </a:r>
          </a:p>
          <a:p>
            <a:r>
              <a:t>• الواجهة تعمل بمعدل 60 إطاراً في الثانية حتى لو كنت تستعرض 50 ألف ملف بفضل نظام التقطيع الافتراضي Windowed Chunking.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1:45 دقيقة]:</a:t>
            </a:r>
          </a:p>
          <a:p>
            <a:r>
              <a:t>• لغة الأرقام والجدوى المالية:</a:t>
            </a:r>
          </a:p>
          <a:p>
            <a:r>
              <a:t>• للمستخدم العادي: نجمع له سعات حساباته المجانية في سحابة واحدة عملاقة دون أن يدفع سنتاً واحداً لاشتراكات شهرية متكررة.</a:t>
            </a:r>
          </a:p>
          <a:p>
            <a:r>
              <a:t>• للشركات والمؤسسات: بدلاً من دفع 24 دولاراً شهرياً لكل موظف في Dropbox، يمكنهم استخدام Wasabi أو Backblaze B2 عبر AuraSync بـ 6 دولارات فقط للتيرابايت كاملة، مما يوفر أكثر من 80% من فاتورة التخزين السنوية.</a:t>
            </a:r>
          </a:p>
          <a:p>
            <a:r>
              <a:t>• إضافة إلى تجنب خسائر برمجيات الفدية وتوقف الأعمال التي تكلف الشركات ملايين الدولارات.</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1:45 دقيقة]:</a:t>
            </a:r>
          </a:p>
          <a:p>
            <a:r>
              <a:t>• المنصة لا تخدم فئة واحدة فقط، بل تم تصميمها لتغطي 4 سيناريوهات حيوية:</a:t>
            </a:r>
          </a:p>
          <a:p>
            <a:r>
              <a:t>1. المصور وصانع المحتوى الذي يرفع آلاف ملفات RAW في دقائق عبر التوربو.</a:t>
            </a:r>
          </a:p>
          <a:p>
            <a:r>
              <a:t>2. المبرمج الذي يريد حماية أكواده واستعادة بيئته بعد الفورمات.</a:t>
            </a:r>
          </a:p>
          <a:p>
            <a:r>
              <a:t>3. المكاتب والشركات التي تحتاج قفل المتصفحات وحماية أسرارها.</a:t>
            </a:r>
          </a:p>
          <a:p>
            <a:r>
              <a:t>4. العائلات التي تريد إفراغ ذاكرة الهاتف وحفظ الذكريات بأمان دون تعقيد.</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2:00 دقيقة]:</a:t>
            </a:r>
          </a:p>
          <a:p>
            <a:r>
              <a:t>• انظروا إلى هذا الجدول المقارن: العمود الثاني الأخضر يمثل AuraSync، وباقي الأعمدة تمثل عمالقة السحابة العالمية.</a:t>
            </a:r>
          </a:p>
          <a:p>
            <a:r>
              <a:t>• في كل خاصية حاسمة — سياسة انعدام الحذف، دمج 25 سحابة، النقل المباشر بدون قرص، حارس المتصفحات، استعادة الجهاز بمانيفست سحابي، والخفة الفائقة — يتفوق AuraSync بشكل مطلق.</a:t>
            </a:r>
          </a:p>
          <a:p>
            <a:r>
              <a:t>• الشركات الكبرى تبني قلاعاً مغلقة لتحبسك داخل خدماتها، بينما نحن بنينا جسراً يوحد كل خدماتك السحابية ويحميها.</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1:30 دقيقة]:</a:t>
            </a:r>
          </a:p>
          <a:p>
            <a:r>
              <a:t>• من وراء الكواليس: كيف نضمن استقرار المشروع؟</a:t>
            </a:r>
          </a:p>
          <a:p>
            <a:r>
              <a:t>• لدينا مساران مؤتمتان بالكامل للـ CI/CD: تعديلات الهاتف لا تبني الحاسوب والعكس، مما يوفر الوقت والموارد.</a:t>
            </a:r>
          </a:p>
          <a:p>
            <a:r>
              <a:t>• 382 فحصاً مؤتمتاً ينفذ بنسبة نجاح 100% قبل كل إصدار رسمي، مع ميزة التحديث الصامت بنقرة واحدة في أقل من ثانية عبر الدلتا.</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1:30 دقيقة]:</a:t>
            </a:r>
          </a:p>
          <a:p>
            <a:r>
              <a:t>• أين تتجه المنصة مستقبلاً؟</a:t>
            </a:r>
          </a:p>
          <a:p>
            <a:r>
              <a:t>1. المزامنة المباشرة الند-للند P2P LAN لنقل الملفات بين أجهزتك المنزلية بسرعة 100MB/s دون استهلاك باقة الإنترنت.</a:t>
            </a:r>
          </a:p>
          <a:p>
            <a:r>
              <a:t>2. نسخة الـ iOS الأصلية مع دعم Face ID ومشاركة الآيفون.</a:t>
            </a:r>
          </a:p>
          <a:p>
            <a:r>
              <a:t>3. ذكاء اصطناعي محلي يعمل على جهازك دون إرسال بياناتك لخوادم خارجية، لفرز الصور والبحث بالمعنى.</a:t>
            </a:r>
          </a:p>
          <a:p>
            <a:r>
              <a:t>4. ربط شبكات التخزين اللامركزي Web3 لضمان بقاء البيانات للأبد.</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[المدة: 1:30 دقيقة]:</a:t>
            </a:r>
          </a:p>
          <a:p>
            <a:r>
              <a:t>• ختاماً: AuraSync ليس مجرد فكرة أو نموذج أولي، بل منتج ناضج بالكامل متاح للاستخدام الفوري على أجهزة ويندوز وهواتف أندرويد.</a:t>
            </a:r>
          </a:p>
          <a:p>
            <a:r>
              <a:t>• يمثل قمة الأمان السيبراني وسهولة الاستخدام ويوفر استقلالية رقمية حقيقية للمستخدمين.</a:t>
            </a:r>
          </a:p>
          <a:p>
            <a:r>
              <a:t>• نشكركم جميعاً على حسن استماعكم، ويسعدنا الآن فتح باب الأسئلة والمناقشة.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4754880" cy="502920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ero-vault.jpg"/>
          <p:cNvPicPr>
            <a:picLocks noChangeAspect="1"/>
          </p:cNvPicPr>
          <p:nvPr/>
        </p:nvPicPr>
        <p:blipFill>
          <a:blip r:embed="rId2"/>
          <a:stretch>
            <a:fillRect/>
          </a:stretch>
        </p:blipFill>
        <p:spPr>
          <a:xfrm>
            <a:off x="804672" y="1170432"/>
            <a:ext cx="4608576" cy="4645152"/>
          </a:xfrm>
          <a:prstGeom prst="rect">
            <a:avLst/>
          </a:prstGeom>
        </p:spPr>
      </p:pic>
      <p:sp>
        <p:nvSpPr>
          <p:cNvPr id="5" name="TextBox 4"/>
          <p:cNvSpPr txBox="1"/>
          <p:nvPr/>
        </p:nvSpPr>
        <p:spPr>
          <a:xfrm>
            <a:off x="731520" y="5760720"/>
            <a:ext cx="4754880" cy="320040"/>
          </a:xfrm>
          <a:prstGeom prst="rect">
            <a:avLst/>
          </a:prstGeom>
          <a:noFill/>
        </p:spPr>
        <p:txBody>
          <a:bodyPr wrap="none">
            <a:spAutoFit/>
          </a:bodyPr>
          <a:lstStyle/>
          <a:p>
            <a:pPr algn="ctr">
              <a:defRPr sz="950" b="1">
                <a:solidFill>
                  <a:srgbClr val="F8FAFC"/>
                </a:solidFill>
                <a:latin typeface="Segoe UI"/>
              </a:defRPr>
            </a:pPr>
            <a:r>
              <a:t>AuraSync Digital Cloud Vault — 8K 3D Architecture</a:t>
            </a:r>
          </a:p>
        </p:txBody>
      </p:sp>
      <p:sp>
        <p:nvSpPr>
          <p:cNvPr id="6" name="Rounded Rectangle 5"/>
          <p:cNvSpPr/>
          <p:nvPr/>
        </p:nvSpPr>
        <p:spPr>
          <a:xfrm>
            <a:off x="5852160" y="1097280"/>
            <a:ext cx="3291840" cy="365760"/>
          </a:xfrm>
          <a:prstGeom prst="roundRect">
            <a:avLst/>
          </a:prstGeom>
          <a:solidFill>
            <a:srgbClr val="101C38"/>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6B6D4"/>
                </a:solidFill>
                <a:latin typeface="Segoe UI"/>
              </a:defRPr>
            </a:pPr>
            <a:r>
              <a:t>OFFICIAL PROJECT PRESENTATION 2026</a:t>
            </a:r>
          </a:p>
        </p:txBody>
      </p:sp>
      <p:sp>
        <p:nvSpPr>
          <p:cNvPr id="7" name="TextBox 6"/>
          <p:cNvSpPr txBox="1"/>
          <p:nvPr/>
        </p:nvSpPr>
        <p:spPr>
          <a:xfrm>
            <a:off x="5852160" y="1600200"/>
            <a:ext cx="5577840" cy="2011680"/>
          </a:xfrm>
          <a:prstGeom prst="rect">
            <a:avLst/>
          </a:prstGeom>
          <a:noFill/>
        </p:spPr>
        <p:txBody>
          <a:bodyPr wrap="square">
            <a:spAutoFit/>
          </a:bodyPr>
          <a:lstStyle/>
          <a:p>
            <a:pPr algn="r">
              <a:defRPr sz="3200" b="1">
                <a:solidFill>
                  <a:srgbClr val="F8FAFC"/>
                </a:solidFill>
                <a:latin typeface="Segoe UI"/>
              </a:defRPr>
            </a:pPr>
            <a:r>
              <a:t>AuraSync — مشروع سحابه</a:t>
            </a:r>
          </a:p>
          <a:p>
            <a:pPr algn="r">
              <a:spcBef>
                <a:spcPts val="800"/>
              </a:spcBef>
              <a:defRPr sz="1400">
                <a:solidFill>
                  <a:srgbClr val="06B6D4"/>
                </a:solidFill>
                <a:latin typeface="Segoe UI"/>
              </a:defRPr>
            </a:pPr>
            <a:r>
              <a:t>المنصة الهندسية الذكية للنسخ الاحتياطي متعدد السحابات وحماية البيانات بسياسة انعدام الحذف</a:t>
            </a:r>
          </a:p>
          <a:p>
            <a:pPr algn="r">
              <a:spcBef>
                <a:spcPts val="600"/>
              </a:spcBef>
              <a:defRPr sz="1050">
                <a:solidFill>
                  <a:srgbClr val="94A3B8"/>
                </a:solidFill>
                <a:latin typeface="Segoe UI"/>
              </a:defRPr>
            </a:pPr>
            <a:r>
              <a:t>منظومة إنتاجية متكاملة تجمع بين سياسة انعدام الحذف الحصرية، ودمج أكثر من 25 سحابة، وحارس المتصفحات المبتكر Win+L، وتطبيق أندرويد مستقل لنقل المعرض بنقرة واحدة.</a:t>
            </a:r>
          </a:p>
        </p:txBody>
      </p:sp>
      <p:sp>
        <p:nvSpPr>
          <p:cNvPr id="8" name="Rounded Rectangle 7"/>
          <p:cNvSpPr/>
          <p:nvPr/>
        </p:nvSpPr>
        <p:spPr>
          <a:xfrm>
            <a:off x="5852160" y="3931920"/>
            <a:ext cx="1280160" cy="1097280"/>
          </a:xfrm>
          <a:prstGeom prst="roundRect">
            <a:avLst/>
          </a:prstGeom>
          <a:solidFill>
            <a:srgbClr val="0C122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109728" bIns="91440"/>
          <a:lstStyle/>
          <a:p>
            <a:pPr algn="ctr">
              <a:defRPr sz="2000" b="1">
                <a:solidFill>
                  <a:srgbClr val="06B6D4"/>
                </a:solidFill>
                <a:latin typeface="Segoe UI"/>
              </a:defRPr>
            </a:pPr>
            <a:r>
              <a:t>+25</a:t>
            </a:r>
          </a:p>
          <a:p>
            <a:pPr algn="ctr">
              <a:spcBef>
                <a:spcPts val="200"/>
              </a:spcBef>
              <a:defRPr sz="1050" b="1">
                <a:solidFill>
                  <a:srgbClr val="F8FAFC"/>
                </a:solidFill>
                <a:latin typeface="Segoe UI"/>
              </a:defRPr>
            </a:pPr>
            <a:r>
              <a:t>سحابة مدعومة</a:t>
            </a:r>
          </a:p>
          <a:p>
            <a:pPr algn="ctr">
              <a:spcBef>
                <a:spcPts val="200"/>
              </a:spcBef>
              <a:defRPr sz="850">
                <a:solidFill>
                  <a:srgbClr val="94A3B8"/>
                </a:solidFill>
                <a:latin typeface="Segoe UI"/>
              </a:defRPr>
            </a:pPr>
            <a:r>
              <a:t>دمج موحد شامل</a:t>
            </a:r>
          </a:p>
        </p:txBody>
      </p:sp>
      <p:sp>
        <p:nvSpPr>
          <p:cNvPr id="9" name="Rounded Rectangle 8"/>
          <p:cNvSpPr/>
          <p:nvPr/>
        </p:nvSpPr>
        <p:spPr>
          <a:xfrm>
            <a:off x="7269480" y="3931920"/>
            <a:ext cx="1280160" cy="1097280"/>
          </a:xfrm>
          <a:prstGeom prst="roundRect">
            <a:avLst/>
          </a:prstGeom>
          <a:solidFill>
            <a:srgbClr val="0C122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09728" bIns="91440"/>
          <a:lstStyle/>
          <a:p>
            <a:pPr algn="ctr">
              <a:defRPr sz="2000" b="1">
                <a:solidFill>
                  <a:srgbClr val="10B981"/>
                </a:solidFill>
                <a:latin typeface="Segoe UI"/>
              </a:defRPr>
            </a:pPr>
            <a:r>
              <a:t>0%</a:t>
            </a:r>
          </a:p>
          <a:p>
            <a:pPr algn="ctr">
              <a:spcBef>
                <a:spcPts val="200"/>
              </a:spcBef>
              <a:defRPr sz="1050" b="1">
                <a:solidFill>
                  <a:srgbClr val="F8FAFC"/>
                </a:solidFill>
                <a:latin typeface="Segoe UI"/>
              </a:defRPr>
            </a:pPr>
            <a:r>
              <a:t>حذف عَرَضي</a:t>
            </a:r>
          </a:p>
          <a:p>
            <a:pPr algn="ctr">
              <a:spcBef>
                <a:spcPts val="200"/>
              </a:spcBef>
              <a:defRPr sz="850">
                <a:solidFill>
                  <a:srgbClr val="94A3B8"/>
                </a:solidFill>
                <a:latin typeface="Segoe UI"/>
              </a:defRPr>
            </a:pPr>
            <a:r>
              <a:t>سياسة عدم الحذف</a:t>
            </a:r>
          </a:p>
        </p:txBody>
      </p:sp>
      <p:sp>
        <p:nvSpPr>
          <p:cNvPr id="10" name="Rounded Rectangle 9"/>
          <p:cNvSpPr/>
          <p:nvPr/>
        </p:nvSpPr>
        <p:spPr>
          <a:xfrm>
            <a:off x="8686800" y="3931920"/>
            <a:ext cx="1280160" cy="1097280"/>
          </a:xfrm>
          <a:prstGeom prst="roundRect">
            <a:avLst/>
          </a:prstGeom>
          <a:solidFill>
            <a:srgbClr val="0C122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09728" bIns="91440"/>
          <a:lstStyle/>
          <a:p>
            <a:pPr algn="ctr">
              <a:defRPr sz="2000" b="1">
                <a:solidFill>
                  <a:srgbClr val="F59E0B"/>
                </a:solidFill>
                <a:latin typeface="Segoe UI"/>
              </a:defRPr>
            </a:pPr>
            <a:r>
              <a:t>32x</a:t>
            </a:r>
          </a:p>
          <a:p>
            <a:pPr algn="ctr">
              <a:spcBef>
                <a:spcPts val="200"/>
              </a:spcBef>
              <a:defRPr sz="1050" b="1">
                <a:solidFill>
                  <a:srgbClr val="F8FAFC"/>
                </a:solidFill>
                <a:latin typeface="Segoe UI"/>
              </a:defRPr>
            </a:pPr>
            <a:r>
              <a:t>قناة توازي</a:t>
            </a:r>
          </a:p>
          <a:p>
            <a:pPr algn="ctr">
              <a:spcBef>
                <a:spcPts val="200"/>
              </a:spcBef>
              <a:defRPr sz="850">
                <a:solidFill>
                  <a:srgbClr val="94A3B8"/>
                </a:solidFill>
                <a:latin typeface="Segoe UI"/>
              </a:defRPr>
            </a:pPr>
            <a:r>
              <a:t>توربو الفايبر</a:t>
            </a:r>
          </a:p>
        </p:txBody>
      </p:sp>
      <p:sp>
        <p:nvSpPr>
          <p:cNvPr id="11" name="Rounded Rectangle 10"/>
          <p:cNvSpPr/>
          <p:nvPr/>
        </p:nvSpPr>
        <p:spPr>
          <a:xfrm>
            <a:off x="10104120" y="3931920"/>
            <a:ext cx="1280160" cy="1097280"/>
          </a:xfrm>
          <a:prstGeom prst="roundRect">
            <a:avLst/>
          </a:prstGeom>
          <a:solidFill>
            <a:srgbClr val="0C1221"/>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tIns="109728" bIns="91440"/>
          <a:lstStyle/>
          <a:p>
            <a:pPr algn="ctr">
              <a:defRPr sz="2000" b="1">
                <a:solidFill>
                  <a:srgbClr val="A855F7"/>
                </a:solidFill>
                <a:latin typeface="Segoe UI"/>
              </a:defRPr>
            </a:pPr>
            <a:r>
              <a:t>100%</a:t>
            </a:r>
          </a:p>
          <a:p>
            <a:pPr algn="ctr">
              <a:spcBef>
                <a:spcPts val="200"/>
              </a:spcBef>
              <a:defRPr sz="1050" b="1">
                <a:solidFill>
                  <a:srgbClr val="F8FAFC"/>
                </a:solidFill>
                <a:latin typeface="Segoe UI"/>
              </a:defRPr>
            </a:pPr>
            <a:r>
              <a:t>جناح اختبارات</a:t>
            </a:r>
          </a:p>
          <a:p>
            <a:pPr algn="ctr">
              <a:spcBef>
                <a:spcPts val="200"/>
              </a:spcBef>
              <a:defRPr sz="850">
                <a:solidFill>
                  <a:srgbClr val="94A3B8"/>
                </a:solidFill>
                <a:latin typeface="Segoe UI"/>
              </a:defRPr>
            </a:pPr>
            <a:r>
              <a:t>382+ فحص مؤتمت</a:t>
            </a:r>
          </a:p>
        </p:txBody>
      </p:sp>
      <p:sp>
        <p:nvSpPr>
          <p:cNvPr id="12" name="Rounded Rectangle 11"/>
          <p:cNvSpPr/>
          <p:nvPr/>
        </p:nvSpPr>
        <p:spPr>
          <a:xfrm>
            <a:off x="5852160" y="5303520"/>
            <a:ext cx="5532120" cy="777240"/>
          </a:xfrm>
          <a:prstGeom prst="roundRect">
            <a:avLst/>
          </a:prstGeom>
          <a:solidFill>
            <a:srgbClr val="0B101E"/>
          </a:solidFill>
          <a:ln>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8FAFC"/>
                </a:solidFill>
                <a:latin typeface="Segoe UI"/>
              </a:defRPr>
            </a:pPr>
            <a:r>
              <a:t>Desktop v1.7.97 (Electron + SQLite WASM)  |  Mobile v1.0.7 (Android APK Native)</a:t>
            </a:r>
          </a:p>
          <a:p>
            <a:pPr algn="ctr">
              <a:spcBef>
                <a:spcPts val="300"/>
              </a:spcBef>
              <a:defRPr sz="900">
                <a:solidFill>
                  <a:srgbClr val="06B6D4"/>
                </a:solidFill>
                <a:latin typeface="Segoe UI"/>
              </a:defRPr>
            </a:pPr>
            <a:r>
              <a:t>Commercial Grade Architecture  •  Principal Software Architect Standard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THE MARKET PROBLEM &amp; CRITICAL GAP</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معضلة فقدان البيانات ومخاطر السحابة التقليدية</a:t>
            </a:r>
          </a:p>
          <a:p>
            <a:pPr algn="r">
              <a:spcBef>
                <a:spcPts val="300"/>
              </a:spcBef>
              <a:defRPr sz="1150">
                <a:solidFill>
                  <a:srgbClr val="94A3B8"/>
                </a:solidFill>
                <a:latin typeface="Segoe UI"/>
              </a:defRPr>
            </a:pPr>
            <a:r>
              <a:t>تحليل الثغرات الكارثية في خدمات التخزين السحابي الحالية وسلوك المستخدمين</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5120640" cy="2194560"/>
          </a:xfrm>
          <a:prstGeom prst="roundRect">
            <a:avLst/>
          </a:prstGeom>
          <a:solidFill>
            <a:srgbClr val="0D1527"/>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F43F5E"/>
                </a:solidFill>
                <a:latin typeface="Segoe UI"/>
              </a:defRPr>
            </a:pPr>
            <a:r>
              <a:t>⚠️ كارثة الحذف المتزامن التبادلي</a:t>
            </a:r>
          </a:p>
          <a:p>
            <a:pPr algn="r">
              <a:spcBef>
                <a:spcPts val="200"/>
              </a:spcBef>
              <a:defRPr sz="900" b="1">
                <a:solidFill>
                  <a:srgbClr val="F43F5E"/>
                </a:solidFill>
                <a:latin typeface="Segoe UI"/>
              </a:defRPr>
            </a:pPr>
            <a:r>
              <a:t>[مخاطرة فقدان قصوى]</a:t>
            </a:r>
          </a:p>
          <a:p>
            <a:pPr algn="r">
              <a:spcBef>
                <a:spcPts val="300"/>
              </a:spcBef>
              <a:spcAft>
                <a:spcPts val="100"/>
              </a:spcAft>
              <a:defRPr sz="1000">
                <a:solidFill>
                  <a:srgbClr val="94A3B8"/>
                </a:solidFill>
                <a:latin typeface="Segoe UI"/>
              </a:defRPr>
            </a:pPr>
            <a:r>
              <a:t>• في Google Drive و OneDrive و Dropbox، إذا حذفت ملفاً من حاسوبك بالخطأ، تحذفه السحابة فوراً من كافة أجهزتك!</a:t>
            </a:r>
          </a:p>
          <a:p>
            <a:pPr algn="r">
              <a:spcBef>
                <a:spcPts val="300"/>
              </a:spcBef>
              <a:spcAft>
                <a:spcPts val="100"/>
              </a:spcAft>
              <a:defRPr sz="1000">
                <a:solidFill>
                  <a:srgbClr val="94A3B8"/>
                </a:solidFill>
                <a:latin typeface="Segoe UI"/>
              </a:defRPr>
            </a:pPr>
            <a:r>
              <a:t>• برمجيات الفدية (Ransomware): بمجرد تشفير الملفات محلياً، تقوم المزامنة العادية باستبدال النسخ السليمة في السحابة فوراً.</a:t>
            </a:r>
          </a:p>
          <a:p>
            <a:pPr algn="r">
              <a:spcBef>
                <a:spcPts val="300"/>
              </a:spcBef>
              <a:spcAft>
                <a:spcPts val="100"/>
              </a:spcAft>
              <a:defRPr sz="1000">
                <a:solidFill>
                  <a:srgbClr val="94A3B8"/>
                </a:solidFill>
                <a:latin typeface="Segoe UI"/>
              </a:defRPr>
            </a:pPr>
            <a:r>
              <a:t>• انعدام الحماية التلقائية للبيانات المحذوفة محلياً دون اشتراكات مؤسسية باهظة.</a:t>
            </a:r>
          </a:p>
        </p:txBody>
      </p:sp>
      <p:sp>
        <p:nvSpPr>
          <p:cNvPr id="7" name="Rounded Rectangle 6"/>
          <p:cNvSpPr/>
          <p:nvPr/>
        </p:nvSpPr>
        <p:spPr>
          <a:xfrm>
            <a:off x="6217920" y="1645920"/>
            <a:ext cx="5212080" cy="2194560"/>
          </a:xfrm>
          <a:prstGeom prst="roundRect">
            <a:avLst/>
          </a:prstGeom>
          <a:solidFill>
            <a:srgbClr val="0D15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F59E0B"/>
                </a:solidFill>
                <a:latin typeface="Segoe UI"/>
              </a:defRPr>
            </a:pPr>
            <a:r>
              <a:t>🔒 تشتت التخزين واحتكار الشركات (Vendor Lock-in)</a:t>
            </a:r>
          </a:p>
          <a:p>
            <a:pPr algn="r">
              <a:spcBef>
                <a:spcPts val="200"/>
              </a:spcBef>
              <a:defRPr sz="900" b="1">
                <a:solidFill>
                  <a:srgbClr val="F59E0B"/>
                </a:solidFill>
                <a:latin typeface="Segoe UI"/>
              </a:defRPr>
            </a:pPr>
            <a:r>
              <a:t>[احتكار وتكاليف باهظة]</a:t>
            </a:r>
          </a:p>
          <a:p>
            <a:pPr algn="r">
              <a:spcBef>
                <a:spcPts val="300"/>
              </a:spcBef>
              <a:spcAft>
                <a:spcPts val="100"/>
              </a:spcAft>
              <a:defRPr sz="1000">
                <a:solidFill>
                  <a:srgbClr val="94A3B8"/>
                </a:solidFill>
                <a:latin typeface="Segoe UI"/>
              </a:defRPr>
            </a:pPr>
            <a:r>
              <a:t>• يمتلك المستخدم العادي 15GB في جوجل، 5GB في ون درايف، و 20GB في ميجا دون أي رابط بينها.</a:t>
            </a:r>
          </a:p>
          <a:p>
            <a:pPr algn="r">
              <a:spcBef>
                <a:spcPts val="300"/>
              </a:spcBef>
              <a:spcAft>
                <a:spcPts val="100"/>
              </a:spcAft>
              <a:defRPr sz="1000">
                <a:solidFill>
                  <a:srgbClr val="94A3B8"/>
                </a:solidFill>
                <a:latin typeface="Segoe UI"/>
              </a:defRPr>
            </a:pPr>
            <a:r>
              <a:t>• الشركات تجبر المستخدم على شراء اشتراكات شهرية متكررة عند امتلاء حساب واحد.</a:t>
            </a:r>
          </a:p>
          <a:p>
            <a:pPr algn="r">
              <a:spcBef>
                <a:spcPts val="300"/>
              </a:spcBef>
              <a:spcAft>
                <a:spcPts val="100"/>
              </a:spcAft>
              <a:defRPr sz="1000">
                <a:solidFill>
                  <a:srgbClr val="94A3B8"/>
                </a:solidFill>
                <a:latin typeface="Segoe UI"/>
              </a:defRPr>
            </a:pPr>
            <a:r>
              <a:t>• استحالة نقل الملفات مباشرة من سحابة إلى سحابة أخرى دون تنزيلها أولاً على القرص الصلب.</a:t>
            </a:r>
          </a:p>
        </p:txBody>
      </p:sp>
      <p:sp>
        <p:nvSpPr>
          <p:cNvPr id="8" name="Rounded Rectangle 7"/>
          <p:cNvSpPr/>
          <p:nvPr/>
        </p:nvSpPr>
        <p:spPr>
          <a:xfrm>
            <a:off x="731520" y="4114800"/>
            <a:ext cx="5120640" cy="2103120"/>
          </a:xfrm>
          <a:prstGeom prst="roundRect">
            <a:avLst/>
          </a:prstGeom>
          <a:solidFill>
            <a:srgbClr val="0D1527"/>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2563EB"/>
                </a:solidFill>
                <a:latin typeface="Segoe UI"/>
              </a:defRPr>
            </a:pPr>
            <a:r>
              <a:t>📱 أزمة ذاكرة الهواتف الذكية والمعرض</a:t>
            </a:r>
          </a:p>
          <a:p>
            <a:pPr algn="r">
              <a:spcBef>
                <a:spcPts val="200"/>
              </a:spcBef>
              <a:defRPr sz="900" b="1">
                <a:solidFill>
                  <a:srgbClr val="2563EB"/>
                </a:solidFill>
                <a:latin typeface="Segoe UI"/>
              </a:defRPr>
            </a:pPr>
            <a:r>
              <a:t>[اختناق تخزين الهواتف]</a:t>
            </a:r>
          </a:p>
          <a:p>
            <a:pPr algn="r">
              <a:spcBef>
                <a:spcPts val="300"/>
              </a:spcBef>
              <a:spcAft>
                <a:spcPts val="100"/>
              </a:spcAft>
              <a:defRPr sz="1000">
                <a:solidFill>
                  <a:srgbClr val="94A3B8"/>
                </a:solidFill>
                <a:latin typeface="Segoe UI"/>
              </a:defRPr>
            </a:pPr>
            <a:r>
              <a:t>• امتلاء ذاكرة الهاتف بآلاف الصور والفيديوهات دون وجود أداة بنقرة واحدة لنقل المعرض بالكامل لسحابة خاصة.</a:t>
            </a:r>
          </a:p>
          <a:p>
            <a:pPr algn="r">
              <a:spcBef>
                <a:spcPts val="300"/>
              </a:spcBef>
              <a:spcAft>
                <a:spcPts val="100"/>
              </a:spcAft>
              <a:defRPr sz="1000">
                <a:solidFill>
                  <a:srgbClr val="94A3B8"/>
                </a:solidFill>
                <a:latin typeface="Segoe UI"/>
              </a:defRPr>
            </a:pPr>
            <a:r>
              <a:t>• قيود رفع المعرض دفعة واحدة: أغلب التطبيقات تنهار عند محاولة مشاركة أكثر من 50-100 صورة معاً.</a:t>
            </a:r>
          </a:p>
          <a:p>
            <a:pPr algn="r">
              <a:spcBef>
                <a:spcPts val="300"/>
              </a:spcBef>
              <a:spcAft>
                <a:spcPts val="100"/>
              </a:spcAft>
              <a:defRPr sz="1000">
                <a:solidFill>
                  <a:srgbClr val="94A3B8"/>
                </a:solidFill>
                <a:latin typeface="Segoe UI"/>
              </a:defRPr>
            </a:pPr>
            <a:r>
              <a:t>• الاستنزاف السريع لبطارية الهاتف وباقة البيانات الخلوية أثناء عمليات المزامنة العشوائية.</a:t>
            </a:r>
          </a:p>
        </p:txBody>
      </p:sp>
      <p:sp>
        <p:nvSpPr>
          <p:cNvPr id="9" name="Rounded Rectangle 8"/>
          <p:cNvSpPr/>
          <p:nvPr/>
        </p:nvSpPr>
        <p:spPr>
          <a:xfrm>
            <a:off x="6217920" y="4114800"/>
            <a:ext cx="5212080" cy="210312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A855F7"/>
                </a:solidFill>
                <a:latin typeface="Segoe UI"/>
              </a:defRPr>
            </a:pPr>
            <a:r>
              <a:t>👁️ مخاطر الخصوصية وتطفل الأجهزة المفتوحة</a:t>
            </a:r>
          </a:p>
          <a:p>
            <a:pPr algn="r">
              <a:spcBef>
                <a:spcPts val="200"/>
              </a:spcBef>
              <a:defRPr sz="900" b="1">
                <a:solidFill>
                  <a:srgbClr val="A855F7"/>
                </a:solidFill>
                <a:latin typeface="Segoe UI"/>
              </a:defRPr>
            </a:pPr>
            <a:r>
              <a:t>[انكشاف الخصوصية]</a:t>
            </a:r>
          </a:p>
          <a:p>
            <a:pPr algn="r">
              <a:spcBef>
                <a:spcPts val="300"/>
              </a:spcBef>
              <a:spcAft>
                <a:spcPts val="100"/>
              </a:spcAft>
              <a:defRPr sz="1000">
                <a:solidFill>
                  <a:srgbClr val="94A3B8"/>
                </a:solidFill>
                <a:latin typeface="Segoe UI"/>
              </a:defRPr>
            </a:pPr>
            <a:r>
              <a:t>• ترك أجهزة الكمبيوتر أو الهواتف في المكاتب والمنازل يُعرّض الحسابات والواتساب والبريد للتطفل المباشر.</a:t>
            </a:r>
          </a:p>
          <a:p>
            <a:pPr algn="r">
              <a:spcBef>
                <a:spcPts val="300"/>
              </a:spcBef>
              <a:spcAft>
                <a:spcPts val="100"/>
              </a:spcAft>
              <a:defRPr sz="1000">
                <a:solidFill>
                  <a:srgbClr val="94A3B8"/>
                </a:solidFill>
                <a:latin typeface="Segoe UI"/>
              </a:defRPr>
            </a:pPr>
            <a:r>
              <a:t>• المتصفحات الحديثة تحفظ الجلسات مفتوحة دون أي طلب لرمز PIN أو بصمة عند التبديل للنوافذ.</a:t>
            </a:r>
          </a:p>
          <a:p>
            <a:pPr algn="r">
              <a:spcBef>
                <a:spcPts val="300"/>
              </a:spcBef>
              <a:spcAft>
                <a:spcPts val="100"/>
              </a:spcAft>
              <a:defRPr sz="1000">
                <a:solidFill>
                  <a:srgbClr val="94A3B8"/>
                </a:solidFill>
                <a:latin typeface="Segoe UI"/>
              </a:defRPr>
            </a:pPr>
            <a:r>
              <a:t>• غياب التشفير الحقيقي للمجلدات الحساسة قبل رفعها إلى الخوادم السحابية الأمريكية.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THE AURASYNC STRATEGIC SOLUTION</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الحل الثوري: منصة AuraSync الهجينة الذكية</a:t>
            </a:r>
          </a:p>
          <a:p>
            <a:pPr algn="r">
              <a:spcBef>
                <a:spcPts val="300"/>
              </a:spcBef>
              <a:defRPr sz="1150">
                <a:solidFill>
                  <a:srgbClr val="94A3B8"/>
                </a:solidFill>
                <a:latin typeface="Segoe UI"/>
              </a:defRPr>
            </a:pPr>
            <a:r>
              <a:t>منظومة متكاملة لحفظ الملفات وتوحيد السحابات وتأمين النظام على مستوى النواة</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3657600" cy="457200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curity-shield.jpg"/>
          <p:cNvPicPr>
            <a:picLocks noChangeAspect="1"/>
          </p:cNvPicPr>
          <p:nvPr/>
        </p:nvPicPr>
        <p:blipFill>
          <a:blip r:embed="rId3"/>
          <a:stretch>
            <a:fillRect/>
          </a:stretch>
        </p:blipFill>
        <p:spPr>
          <a:xfrm>
            <a:off x="804672" y="1719072"/>
            <a:ext cx="3511296" cy="4187952"/>
          </a:xfrm>
          <a:prstGeom prst="rect">
            <a:avLst/>
          </a:prstGeom>
        </p:spPr>
      </p:pic>
      <p:sp>
        <p:nvSpPr>
          <p:cNvPr id="8" name="TextBox 7"/>
          <p:cNvSpPr txBox="1"/>
          <p:nvPr/>
        </p:nvSpPr>
        <p:spPr>
          <a:xfrm>
            <a:off x="731520" y="5852159"/>
            <a:ext cx="3657600" cy="320040"/>
          </a:xfrm>
          <a:prstGeom prst="rect">
            <a:avLst/>
          </a:prstGeom>
          <a:noFill/>
        </p:spPr>
        <p:txBody>
          <a:bodyPr wrap="none">
            <a:spAutoFit/>
          </a:bodyPr>
          <a:lstStyle/>
          <a:p>
            <a:pPr algn="ctr">
              <a:defRPr sz="950" b="1">
                <a:solidFill>
                  <a:srgbClr val="F8FAFC"/>
                </a:solidFill>
                <a:latin typeface="Segoe UI"/>
              </a:defRPr>
            </a:pPr>
            <a:r>
              <a:t>Military-Grade Zero-Knowledge Defense Shield</a:t>
            </a:r>
          </a:p>
        </p:txBody>
      </p:sp>
      <p:sp>
        <p:nvSpPr>
          <p:cNvPr id="9" name="Rounded Rectangle 8"/>
          <p:cNvSpPr/>
          <p:nvPr/>
        </p:nvSpPr>
        <p:spPr>
          <a:xfrm>
            <a:off x="4663440" y="1645920"/>
            <a:ext cx="6766560" cy="1051560"/>
          </a:xfrm>
          <a:prstGeom prst="roundRect">
            <a:avLst/>
          </a:prstGeom>
          <a:solidFill>
            <a:srgbClr val="0D15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10B981"/>
                </a:solidFill>
                <a:latin typeface="Segoe UI"/>
              </a:defRPr>
            </a:pPr>
            <a:r>
              <a:t>🛡️ 1. سياسة انعدام الحذف نهائياً (Zero-Deletion Policy)</a:t>
            </a:r>
          </a:p>
          <a:p>
            <a:pPr algn="r">
              <a:spcBef>
                <a:spcPts val="300"/>
              </a:spcBef>
              <a:spcAft>
                <a:spcPts val="100"/>
              </a:spcAft>
              <a:defRPr sz="1000">
                <a:solidFill>
                  <a:srgbClr val="94A3B8"/>
                </a:solidFill>
                <a:latin typeface="Segoe UI"/>
              </a:defRPr>
            </a:pPr>
            <a:r>
              <a:t>• الملف المحذوف محلياً يظل محفوظاً في السحابة بأمان 100% مع شارة تنبيه برتقالية وإمكانية استرجاعه بنقرة زر.</a:t>
            </a:r>
          </a:p>
        </p:txBody>
      </p:sp>
      <p:sp>
        <p:nvSpPr>
          <p:cNvPr id="10" name="Rounded Rectangle 9"/>
          <p:cNvSpPr/>
          <p:nvPr/>
        </p:nvSpPr>
        <p:spPr>
          <a:xfrm>
            <a:off x="4663440" y="2834640"/>
            <a:ext cx="6766560" cy="10515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2. مُجمّع السحابات الشامل (Universal Cloud Aggregator)</a:t>
            </a:r>
          </a:p>
          <a:p>
            <a:pPr algn="r">
              <a:spcBef>
                <a:spcPts val="300"/>
              </a:spcBef>
              <a:spcAft>
                <a:spcPts val="100"/>
              </a:spcAft>
              <a:defRPr sz="1000">
                <a:solidFill>
                  <a:srgbClr val="94A3B8"/>
                </a:solidFill>
                <a:latin typeface="Segoe UI"/>
              </a:defRPr>
            </a:pPr>
            <a:r>
              <a:t>• ربط وإدارة +25 سحابة وبروتوكول قياسي مع محرك نقل مباشر بين السحابات دون استهلاك مساحة القرص.</a:t>
            </a:r>
          </a:p>
        </p:txBody>
      </p:sp>
      <p:sp>
        <p:nvSpPr>
          <p:cNvPr id="11" name="Rounded Rectangle 10"/>
          <p:cNvSpPr/>
          <p:nvPr/>
        </p:nvSpPr>
        <p:spPr>
          <a:xfrm>
            <a:off x="4663440" y="4023360"/>
            <a:ext cx="6766560" cy="105156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A855F7"/>
                </a:solidFill>
                <a:latin typeface="Segoe UI"/>
              </a:defRPr>
            </a:pPr>
            <a:r>
              <a:t>🔐 3. حارس المتصفحات المبتكر والأمان السيبراني (Browser Guard &amp; Vault)</a:t>
            </a:r>
          </a:p>
          <a:p>
            <a:pPr algn="r">
              <a:spcBef>
                <a:spcPts val="300"/>
              </a:spcBef>
              <a:spcAft>
                <a:spcPts val="100"/>
              </a:spcAft>
              <a:defRPr sz="1000">
                <a:solidFill>
                  <a:srgbClr val="94A3B8"/>
                </a:solidFill>
                <a:latin typeface="Segoe UI"/>
              </a:defRPr>
            </a:pPr>
            <a:r>
              <a:t>• قفل فوري للمتصفحات (Chrome, Edge, Brave...) برمز PIN مع حماية قفل الجهاز بالكامل Win+L بعد خطأين.</a:t>
            </a:r>
          </a:p>
        </p:txBody>
      </p:sp>
      <p:sp>
        <p:nvSpPr>
          <p:cNvPr id="12" name="Rounded Rectangle 11"/>
          <p:cNvSpPr/>
          <p:nvPr/>
        </p:nvSpPr>
        <p:spPr>
          <a:xfrm>
            <a:off x="4663440" y="5212080"/>
            <a:ext cx="6766560" cy="1051560"/>
          </a:xfrm>
          <a:prstGeom prst="roundRect">
            <a:avLst/>
          </a:prstGeom>
          <a:solidFill>
            <a:srgbClr val="0D15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F59E0B"/>
                </a:solidFill>
                <a:latin typeface="Segoe UI"/>
              </a:defRPr>
            </a:pPr>
            <a:r>
              <a:t>⚡ 4. سرعة الفايبر واستعادة الكوارث (Turbo Concurrency &amp; Disaster Recovery)</a:t>
            </a:r>
          </a:p>
          <a:p>
            <a:pPr algn="r">
              <a:spcBef>
                <a:spcPts val="300"/>
              </a:spcBef>
              <a:spcAft>
                <a:spcPts val="100"/>
              </a:spcAft>
              <a:defRPr sz="1000">
                <a:solidFill>
                  <a:srgbClr val="94A3B8"/>
                </a:solidFill>
                <a:latin typeface="Segoe UI"/>
              </a:defRPr>
            </a:pPr>
            <a:r>
              <a:t>• محرك توازي يصل إلى 32 عاملاً لاستغلال خطوط الفايبر، واستعادة الحاسوب بالكامل بعد الفورمات بضغطة زر.</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CORE ARCHITECTURAL ADVANTAGE</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الجوهرة الهندسية: سياسة انعدام الحذف (Zero-Deletion Policy)</a:t>
            </a:r>
          </a:p>
          <a:p>
            <a:pPr algn="r">
              <a:spcBef>
                <a:spcPts val="300"/>
              </a:spcBef>
              <a:defRPr sz="1150">
                <a:solidFill>
                  <a:srgbClr val="94A3B8"/>
                </a:solidFill>
                <a:latin typeface="Segoe UI"/>
              </a:defRPr>
            </a:pPr>
            <a:r>
              <a:t>كيف تضمن AuraSync بقاء ملفاتك محمية للأبد حتى لو تم مسحها محلياً؟</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2514600" cy="201168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28016"/>
          <a:lstStyle/>
          <a:p>
            <a:pPr algn="r">
              <a:defRPr sz="1100" b="1">
                <a:solidFill>
                  <a:srgbClr val="06B6D4"/>
                </a:solidFill>
                <a:latin typeface="Segoe UI"/>
              </a:defRPr>
            </a:pPr>
            <a:r>
              <a:t>STEP 01</a:t>
            </a:r>
          </a:p>
          <a:p>
            <a:pPr algn="r">
              <a:spcBef>
                <a:spcPts val="200"/>
              </a:spcBef>
              <a:defRPr sz="1250" b="1">
                <a:solidFill>
                  <a:srgbClr val="F8FAFC"/>
                </a:solidFill>
                <a:latin typeface="Segoe UI"/>
              </a:defRPr>
            </a:pPr>
            <a:r>
              <a:t>رصد الحذف المحلي</a:t>
            </a:r>
          </a:p>
          <a:p>
            <a:pPr algn="r">
              <a:spcBef>
                <a:spcPts val="400"/>
              </a:spcBef>
              <a:defRPr sz="950">
                <a:solidFill>
                  <a:srgbClr val="94A3B8"/>
                </a:solidFill>
                <a:latin typeface="Segoe UI"/>
              </a:defRPr>
            </a:pPr>
            <a:r>
              <a:t>محرك Chokidar على مستوى النواة يلتقط حدث الحذف (unlink) في أقل من 5 ميلي ثانية.</a:t>
            </a:r>
          </a:p>
        </p:txBody>
      </p:sp>
      <p:sp>
        <p:nvSpPr>
          <p:cNvPr id="7" name="Rounded Rectangle 6"/>
          <p:cNvSpPr/>
          <p:nvPr/>
        </p:nvSpPr>
        <p:spPr>
          <a:xfrm>
            <a:off x="3429000" y="1645920"/>
            <a:ext cx="2514600" cy="2011680"/>
          </a:xfrm>
          <a:prstGeom prst="roundRect">
            <a:avLst/>
          </a:prstGeom>
          <a:solidFill>
            <a:srgbClr val="0D15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28016"/>
          <a:lstStyle/>
          <a:p>
            <a:pPr algn="r">
              <a:defRPr sz="1100" b="1">
                <a:solidFill>
                  <a:srgbClr val="10B981"/>
                </a:solidFill>
                <a:latin typeface="Segoe UI"/>
              </a:defRPr>
            </a:pPr>
            <a:r>
              <a:t>STEP 02</a:t>
            </a:r>
          </a:p>
          <a:p>
            <a:pPr algn="r">
              <a:spcBef>
                <a:spcPts val="200"/>
              </a:spcBef>
              <a:defRPr sz="1250" b="1">
                <a:solidFill>
                  <a:srgbClr val="F8FAFC"/>
                </a:solidFill>
                <a:latin typeface="Segoe UI"/>
              </a:defRPr>
            </a:pPr>
            <a:r>
              <a:t>تجميد أوامر السحابة</a:t>
            </a:r>
          </a:p>
          <a:p>
            <a:pPr algn="r">
              <a:spcBef>
                <a:spcPts val="400"/>
              </a:spcBef>
              <a:defRPr sz="950">
                <a:solidFill>
                  <a:srgbClr val="94A3B8"/>
                </a:solidFill>
                <a:latin typeface="Segoe UI"/>
              </a:defRPr>
            </a:pPr>
            <a:r>
              <a:t>إلغاء فوري لإرسال أي طلب Delete API إلى خوادم Google أو Microsoft أو Dropbox.</a:t>
            </a:r>
          </a:p>
        </p:txBody>
      </p:sp>
      <p:sp>
        <p:nvSpPr>
          <p:cNvPr id="8" name="Rounded Rectangle 7"/>
          <p:cNvSpPr/>
          <p:nvPr/>
        </p:nvSpPr>
        <p:spPr>
          <a:xfrm>
            <a:off x="6126480" y="1645920"/>
            <a:ext cx="2514600" cy="2011680"/>
          </a:xfrm>
          <a:prstGeom prst="roundRect">
            <a:avLst/>
          </a:prstGeom>
          <a:solidFill>
            <a:srgbClr val="0D15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28016"/>
          <a:lstStyle/>
          <a:p>
            <a:pPr algn="r">
              <a:defRPr sz="1100" b="1">
                <a:solidFill>
                  <a:srgbClr val="F59E0B"/>
                </a:solidFill>
                <a:latin typeface="Segoe UI"/>
              </a:defRPr>
            </a:pPr>
            <a:r>
              <a:t>STEP 03</a:t>
            </a:r>
          </a:p>
          <a:p>
            <a:pPr algn="r">
              <a:spcBef>
                <a:spcPts val="200"/>
              </a:spcBef>
              <a:defRPr sz="1250" b="1">
                <a:solidFill>
                  <a:srgbClr val="F8FAFC"/>
                </a:solidFill>
                <a:latin typeface="Segoe UI"/>
              </a:defRPr>
            </a:pPr>
            <a:r>
              <a:t>الوسم الآمن بقاعدة البيانات</a:t>
            </a:r>
          </a:p>
          <a:p>
            <a:pPr algn="r">
              <a:spcBef>
                <a:spcPts val="400"/>
              </a:spcBef>
              <a:defRPr sz="950">
                <a:solidFill>
                  <a:srgbClr val="94A3B8"/>
                </a:solidFill>
                <a:latin typeface="Segoe UI"/>
              </a:defRPr>
            </a:pPr>
            <a:r>
              <a:t>تحديث حالة السجل إلى (preserved) وتسجيل البصمة الرقمية وتوقيت الحذف بدقة.</a:t>
            </a:r>
          </a:p>
        </p:txBody>
      </p:sp>
      <p:sp>
        <p:nvSpPr>
          <p:cNvPr id="9" name="Rounded Rectangle 8"/>
          <p:cNvSpPr/>
          <p:nvPr/>
        </p:nvSpPr>
        <p:spPr>
          <a:xfrm>
            <a:off x="8823960" y="1645920"/>
            <a:ext cx="2514600" cy="201168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28016"/>
          <a:lstStyle/>
          <a:p>
            <a:pPr algn="r">
              <a:defRPr sz="1100" b="1">
                <a:solidFill>
                  <a:srgbClr val="A855F7"/>
                </a:solidFill>
                <a:latin typeface="Segoe UI"/>
              </a:defRPr>
            </a:pPr>
            <a:r>
              <a:t>STEP 04</a:t>
            </a:r>
          </a:p>
          <a:p>
            <a:pPr algn="r">
              <a:spcBef>
                <a:spcPts val="200"/>
              </a:spcBef>
              <a:defRPr sz="1250" b="1">
                <a:solidFill>
                  <a:srgbClr val="F8FAFC"/>
                </a:solidFill>
                <a:latin typeface="Segoe UI"/>
              </a:defRPr>
            </a:pPr>
            <a:r>
              <a:t>التنبيه والاسترجاع</a:t>
            </a:r>
          </a:p>
          <a:p>
            <a:pPr algn="r">
              <a:spcBef>
                <a:spcPts val="400"/>
              </a:spcBef>
              <a:defRPr sz="950">
                <a:solidFill>
                  <a:srgbClr val="94A3B8"/>
                </a:solidFill>
                <a:latin typeface="Segoe UI"/>
              </a:defRPr>
            </a:pPr>
            <a:r>
              <a:t>ظهور شارة تنبيه برتقالية في الشريط الجانبي مع إمكانية استرجاع الملف أو الكل بضغطة زر.</a:t>
            </a:r>
          </a:p>
        </p:txBody>
      </p:sp>
      <p:sp>
        <p:nvSpPr>
          <p:cNvPr id="10" name="Rounded Rectangle 9"/>
          <p:cNvSpPr/>
          <p:nvPr/>
        </p:nvSpPr>
        <p:spPr>
          <a:xfrm>
            <a:off x="731520" y="3931920"/>
            <a:ext cx="5212080" cy="228600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الحذف المشترك المتعمد (Dual Joint Delete)</a:t>
            </a:r>
          </a:p>
          <a:p>
            <a:pPr algn="r">
              <a:spcBef>
                <a:spcPts val="200"/>
              </a:spcBef>
              <a:defRPr sz="900" b="1">
                <a:solidFill>
                  <a:srgbClr val="06B6D4"/>
                </a:solidFill>
                <a:latin typeface="Segoe UI"/>
              </a:defRPr>
            </a:pPr>
            <a:r>
              <a:t>[تحكم سيادي كامل]</a:t>
            </a:r>
          </a:p>
          <a:p>
            <a:pPr algn="r">
              <a:spcBef>
                <a:spcPts val="300"/>
              </a:spcBef>
              <a:spcAft>
                <a:spcPts val="100"/>
              </a:spcAft>
              <a:defRPr sz="1000">
                <a:solidFill>
                  <a:srgbClr val="94A3B8"/>
                </a:solidFill>
                <a:latin typeface="Segoe UI"/>
              </a:defRPr>
            </a:pPr>
            <a:r>
              <a:t>• ماذا لو أراد المستخدم حذف ملف بشكل نهائي وحقيقي من الكمبيوتر والسحابة معاً؟</a:t>
            </a:r>
          </a:p>
          <a:p>
            <a:pPr algn="r">
              <a:spcBef>
                <a:spcPts val="300"/>
              </a:spcBef>
              <a:spcAft>
                <a:spcPts val="100"/>
              </a:spcAft>
              <a:defRPr sz="1000">
                <a:solidFill>
                  <a:srgbClr val="94A3B8"/>
                </a:solidFill>
                <a:latin typeface="Segoe UI"/>
              </a:defRPr>
            </a:pPr>
            <a:r>
              <a:t>• يتوفر خيار حصري 'حذف من الجهاز والسحابة معاً' عبر قائمة كليك يمين في ويندوز وداخل واجهة البرنامج.</a:t>
            </a:r>
          </a:p>
          <a:p>
            <a:pPr algn="r">
              <a:spcBef>
                <a:spcPts val="300"/>
              </a:spcBef>
              <a:spcAft>
                <a:spcPts val="100"/>
              </a:spcAft>
              <a:defRPr sz="1000">
                <a:solidFill>
                  <a:srgbClr val="94A3B8"/>
                </a:solidFill>
                <a:latin typeface="Segoe UI"/>
              </a:defRPr>
            </a:pPr>
            <a:r>
              <a:t>• نافذة تأكيد أمنية ذكية تمنع الحذف غير المقصود وتنفذ العملية بالتوازي فوراً على الطرفين.</a:t>
            </a:r>
          </a:p>
          <a:p>
            <a:pPr algn="r">
              <a:spcBef>
                <a:spcPts val="300"/>
              </a:spcBef>
              <a:spcAft>
                <a:spcPts val="100"/>
              </a:spcAft>
              <a:defRPr sz="1000">
                <a:solidFill>
                  <a:srgbClr val="94A3B8"/>
                </a:solidFill>
                <a:latin typeface="Segoe UI"/>
              </a:defRPr>
            </a:pPr>
            <a:r>
              <a:t>• التحكم الكامل يظل دائماً بيد المستخدم دون مفاجآت غير متوقعة.</a:t>
            </a:r>
          </a:p>
        </p:txBody>
      </p:sp>
      <p:sp>
        <p:nvSpPr>
          <p:cNvPr id="11" name="Rounded Rectangle 10"/>
          <p:cNvSpPr/>
          <p:nvPr/>
        </p:nvSpPr>
        <p:spPr>
          <a:xfrm>
            <a:off x="6217920" y="3931920"/>
            <a:ext cx="5212080" cy="2286000"/>
          </a:xfrm>
          <a:prstGeom prst="roundRect">
            <a:avLst/>
          </a:prstGeom>
          <a:solidFill>
            <a:srgbClr val="0D1527"/>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2563EB"/>
                </a:solidFill>
                <a:latin typeface="Segoe UI"/>
              </a:defRPr>
            </a:pPr>
            <a:r>
              <a:t>🛡️ الحصانة من برمجيات الفدية والأخطاء البشرية</a:t>
            </a:r>
          </a:p>
          <a:p>
            <a:pPr algn="r">
              <a:spcBef>
                <a:spcPts val="200"/>
              </a:spcBef>
              <a:defRPr sz="900" b="1">
                <a:solidFill>
                  <a:srgbClr val="2563EB"/>
                </a:solidFill>
                <a:latin typeface="Segoe UI"/>
              </a:defRPr>
            </a:pPr>
            <a:r>
              <a:t>[حصانة سيبرانية]</a:t>
            </a:r>
          </a:p>
          <a:p>
            <a:pPr algn="r">
              <a:spcBef>
                <a:spcPts val="300"/>
              </a:spcBef>
              <a:spcAft>
                <a:spcPts val="100"/>
              </a:spcAft>
              <a:defRPr sz="1000">
                <a:solidFill>
                  <a:srgbClr val="94A3B8"/>
                </a:solidFill>
                <a:latin typeface="Segoe UI"/>
              </a:defRPr>
            </a:pPr>
            <a:r>
              <a:t>• أمان 100% ضد مسح المجلدات العرضي (Accidental Shift + Delete).</a:t>
            </a:r>
          </a:p>
          <a:p>
            <a:pPr algn="r">
              <a:spcBef>
                <a:spcPts val="300"/>
              </a:spcBef>
              <a:spcAft>
                <a:spcPts val="100"/>
              </a:spcAft>
              <a:defRPr sz="1000">
                <a:solidFill>
                  <a:srgbClr val="94A3B8"/>
                </a:solidFill>
                <a:latin typeface="Segoe UI"/>
              </a:defRPr>
            </a:pPr>
            <a:r>
              <a:t>• حصانة برمجيات الفدية: إذا قام فيروس بتشفير الملفات أو مسحها محلياً، تظل النسخ السحابية سليمة 100%.</a:t>
            </a:r>
          </a:p>
          <a:p>
            <a:pPr algn="r">
              <a:spcBef>
                <a:spcPts val="300"/>
              </a:spcBef>
              <a:spcAft>
                <a:spcPts val="100"/>
              </a:spcAft>
              <a:defRPr sz="1000">
                <a:solidFill>
                  <a:srgbClr val="94A3B8"/>
                </a:solidFill>
                <a:latin typeface="Segoe UI"/>
              </a:defRPr>
            </a:pPr>
            <a:r>
              <a:t>• أزرار الإدارة الجماعية: زر 'تنزيل الكل' لإعادة كافة المحذوفات أو 'مسح الكل' بقرار حاسم بنقرة واحدة.</a:t>
            </a:r>
          </a:p>
          <a:p>
            <a:pPr algn="r">
              <a:spcBef>
                <a:spcPts val="300"/>
              </a:spcBef>
              <a:spcAft>
                <a:spcPts val="100"/>
              </a:spcAft>
              <a:defRPr sz="1000">
                <a:solidFill>
                  <a:srgbClr val="94A3B8"/>
                </a:solidFill>
                <a:latin typeface="Segoe UI"/>
              </a:defRPr>
            </a:pPr>
            <a:r>
              <a:t>• تفريغ تلقائي لسلة المهملات وضمان دقة كوتا التخزين السحابية.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UNIVERSAL CLOUD ECOSYSTEM</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سحابة واحدة تجمع كل السحابات: دعم +25 منصة وبروتوكول</a:t>
            </a:r>
          </a:p>
          <a:p>
            <a:pPr algn="r">
              <a:spcBef>
                <a:spcPts val="300"/>
              </a:spcBef>
              <a:defRPr sz="1150">
                <a:solidFill>
                  <a:srgbClr val="94A3B8"/>
                </a:solidFill>
                <a:latin typeface="Segoe UI"/>
              </a:defRPr>
            </a:pPr>
            <a:r>
              <a:t>توحيد حساباتك السحابية المشتتة تحت مظلة أمنية واحدة مع ميزة النقل السحابي المباشر</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3383280" cy="31089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السحابات الاستهلاكية الكبرى</a:t>
            </a:r>
          </a:p>
          <a:p>
            <a:pPr algn="r">
              <a:spcBef>
                <a:spcPts val="200"/>
              </a:spcBef>
              <a:defRPr sz="900" b="1">
                <a:solidFill>
                  <a:srgbClr val="06B6D4"/>
                </a:solidFill>
                <a:latin typeface="Segoe UI"/>
              </a:defRPr>
            </a:pPr>
            <a:r>
              <a:t>[Native OAuth 2.0]</a:t>
            </a:r>
          </a:p>
          <a:p>
            <a:pPr algn="r">
              <a:spcBef>
                <a:spcPts val="300"/>
              </a:spcBef>
              <a:spcAft>
                <a:spcPts val="100"/>
              </a:spcAft>
              <a:defRPr sz="1000">
                <a:solidFill>
                  <a:srgbClr val="94A3B8"/>
                </a:solidFill>
                <a:latin typeface="Segoe UI"/>
              </a:defRPr>
            </a:pPr>
            <a:r>
              <a:t>• Google Drive (مع دعم كاش المجلدات لمنع حظر الـ API)</a:t>
            </a:r>
          </a:p>
          <a:p>
            <a:pPr algn="r">
              <a:spcBef>
                <a:spcPts val="300"/>
              </a:spcBef>
              <a:spcAft>
                <a:spcPts val="100"/>
              </a:spcAft>
              <a:defRPr sz="1000">
                <a:solidFill>
                  <a:srgbClr val="94A3B8"/>
                </a:solidFill>
                <a:latin typeface="Segoe UI"/>
              </a:defRPr>
            </a:pPr>
            <a:r>
              <a:t>• Microsoft OneDrive (دعم كامل لحسابات Personal &amp; Business)</a:t>
            </a:r>
          </a:p>
          <a:p>
            <a:pPr algn="r">
              <a:spcBef>
                <a:spcPts val="300"/>
              </a:spcBef>
              <a:spcAft>
                <a:spcPts val="100"/>
              </a:spcAft>
              <a:defRPr sz="1000">
                <a:solidFill>
                  <a:srgbClr val="94A3B8"/>
                </a:solidFill>
                <a:latin typeface="Segoe UI"/>
              </a:defRPr>
            </a:pPr>
            <a:r>
              <a:t>• Dropbox (تكامل مباشر عبر API v2)</a:t>
            </a:r>
          </a:p>
          <a:p>
            <a:pPr algn="r">
              <a:spcBef>
                <a:spcPts val="300"/>
              </a:spcBef>
              <a:spcAft>
                <a:spcPts val="100"/>
              </a:spcAft>
              <a:defRPr sz="1000">
                <a:solidFill>
                  <a:srgbClr val="94A3B8"/>
                </a:solidFill>
                <a:latin typeface="Segoe UI"/>
              </a:defRPr>
            </a:pPr>
            <a:r>
              <a:t>• Box &amp; pCloud (مزامنة فورية للملفات الضخمة)</a:t>
            </a:r>
          </a:p>
        </p:txBody>
      </p:sp>
      <p:sp>
        <p:nvSpPr>
          <p:cNvPr id="7" name="Rounded Rectangle 6"/>
          <p:cNvSpPr/>
          <p:nvPr/>
        </p:nvSpPr>
        <p:spPr>
          <a:xfrm>
            <a:off x="4389120" y="1645920"/>
            <a:ext cx="3383280" cy="310896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A855F7"/>
                </a:solidFill>
                <a:latin typeface="Segoe UI"/>
              </a:defRPr>
            </a:pPr>
            <a:r>
              <a:t>🔒 السحابات المشفرة والخاصة</a:t>
            </a:r>
          </a:p>
          <a:p>
            <a:pPr algn="r">
              <a:spcBef>
                <a:spcPts val="200"/>
              </a:spcBef>
              <a:defRPr sz="900" b="1">
                <a:solidFill>
                  <a:srgbClr val="A855F7"/>
                </a:solidFill>
                <a:latin typeface="Segoe UI"/>
              </a:defRPr>
            </a:pPr>
            <a:r>
              <a:t>[End-to-End Encrypted]</a:t>
            </a:r>
          </a:p>
          <a:p>
            <a:pPr algn="r">
              <a:spcBef>
                <a:spcPts val="300"/>
              </a:spcBef>
              <a:spcAft>
                <a:spcPts val="100"/>
              </a:spcAft>
              <a:defRPr sz="1000">
                <a:solidFill>
                  <a:srgbClr val="94A3B8"/>
                </a:solidFill>
                <a:latin typeface="Segoe UI"/>
              </a:defRPr>
            </a:pPr>
            <a:r>
              <a:t>• Mega.nz (تشفير طرف لطرف مع تجاوز قيود التحميل)</a:t>
            </a:r>
          </a:p>
          <a:p>
            <a:pPr algn="r">
              <a:spcBef>
                <a:spcPts val="300"/>
              </a:spcBef>
              <a:spcAft>
                <a:spcPts val="100"/>
              </a:spcAft>
              <a:defRPr sz="1000">
                <a:solidFill>
                  <a:srgbClr val="94A3B8"/>
                </a:solidFill>
                <a:latin typeface="Segoe UI"/>
              </a:defRPr>
            </a:pPr>
            <a:r>
              <a:t>• Telegram Cloud (تخزين غير محدود عبر بوت تليجرام سحابي)</a:t>
            </a:r>
          </a:p>
          <a:p>
            <a:pPr algn="r">
              <a:spcBef>
                <a:spcPts val="300"/>
              </a:spcBef>
              <a:spcAft>
                <a:spcPts val="100"/>
              </a:spcAft>
              <a:defRPr sz="1000">
                <a:solidFill>
                  <a:srgbClr val="94A3B8"/>
                </a:solidFill>
                <a:latin typeface="Segoe UI"/>
              </a:defRPr>
            </a:pPr>
            <a:r>
              <a:t>• Yandex Disk &amp; Koofr</a:t>
            </a:r>
          </a:p>
          <a:p>
            <a:pPr algn="r">
              <a:spcBef>
                <a:spcPts val="300"/>
              </a:spcBef>
              <a:spcAft>
                <a:spcPts val="100"/>
              </a:spcAft>
              <a:defRPr sz="1000">
                <a:solidFill>
                  <a:srgbClr val="94A3B8"/>
                </a:solidFill>
                <a:latin typeface="Segoe UI"/>
              </a:defRPr>
            </a:pPr>
            <a:r>
              <a:t>• تشفير محلي إضافي قبل وصول الملف للسحابة</a:t>
            </a:r>
          </a:p>
        </p:txBody>
      </p:sp>
      <p:sp>
        <p:nvSpPr>
          <p:cNvPr id="8" name="Rounded Rectangle 7"/>
          <p:cNvSpPr/>
          <p:nvPr/>
        </p:nvSpPr>
        <p:spPr>
          <a:xfrm>
            <a:off x="8046720" y="1645920"/>
            <a:ext cx="3383280" cy="3108960"/>
          </a:xfrm>
          <a:prstGeom prst="roundRect">
            <a:avLst/>
          </a:prstGeom>
          <a:solidFill>
            <a:srgbClr val="0D15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F59E0B"/>
                </a:solidFill>
                <a:latin typeface="Segoe UI"/>
              </a:defRPr>
            </a:pPr>
            <a:r>
              <a:t>🗄️ البروتوكولات المفتوحة وسحابات S3</a:t>
            </a:r>
          </a:p>
          <a:p>
            <a:pPr algn="r">
              <a:spcBef>
                <a:spcPts val="200"/>
              </a:spcBef>
              <a:defRPr sz="900" b="1">
                <a:solidFill>
                  <a:srgbClr val="F59E0B"/>
                </a:solidFill>
                <a:latin typeface="Segoe UI"/>
              </a:defRPr>
            </a:pPr>
            <a:r>
              <a:t>[Enterprise &amp; NAS]</a:t>
            </a:r>
          </a:p>
          <a:p>
            <a:pPr algn="r">
              <a:spcBef>
                <a:spcPts val="300"/>
              </a:spcBef>
              <a:spcAft>
                <a:spcPts val="100"/>
              </a:spcAft>
              <a:defRPr sz="1000">
                <a:solidFill>
                  <a:srgbClr val="94A3B8"/>
                </a:solidFill>
                <a:latin typeface="Segoe UI"/>
              </a:defRPr>
            </a:pPr>
            <a:r>
              <a:t>• WebDAV: Nextcloud, ownCloud, Synology NAS, QNAP</a:t>
            </a:r>
          </a:p>
          <a:p>
            <a:pPr algn="r">
              <a:spcBef>
                <a:spcPts val="300"/>
              </a:spcBef>
              <a:spcAft>
                <a:spcPts val="100"/>
              </a:spcAft>
              <a:defRPr sz="1000">
                <a:solidFill>
                  <a:srgbClr val="94A3B8"/>
                </a:solidFill>
                <a:latin typeface="Segoe UI"/>
              </a:defRPr>
            </a:pPr>
            <a:r>
              <a:t>• S3 Compatible: Amazon AWS S3, Cloudflare R2</a:t>
            </a:r>
          </a:p>
          <a:p>
            <a:pPr algn="r">
              <a:spcBef>
                <a:spcPts val="300"/>
              </a:spcBef>
              <a:spcAft>
                <a:spcPts val="100"/>
              </a:spcAft>
              <a:defRPr sz="1000">
                <a:solidFill>
                  <a:srgbClr val="94A3B8"/>
                </a:solidFill>
                <a:latin typeface="Segoe UI"/>
              </a:defRPr>
            </a:pPr>
            <a:r>
              <a:t>• MinIO (للخوادم المنزلية والشركات الخاصة)</a:t>
            </a:r>
          </a:p>
          <a:p>
            <a:pPr algn="r">
              <a:spcBef>
                <a:spcPts val="300"/>
              </a:spcBef>
              <a:spcAft>
                <a:spcPts val="100"/>
              </a:spcAft>
              <a:defRPr sz="1000">
                <a:solidFill>
                  <a:srgbClr val="94A3B8"/>
                </a:solidFill>
                <a:latin typeface="Segoe UI"/>
              </a:defRPr>
            </a:pPr>
            <a:r>
              <a:t>• Wasabi &amp; Backblaze B2 (أقل تكلفة تخزين)</a:t>
            </a:r>
          </a:p>
        </p:txBody>
      </p:sp>
      <p:sp>
        <p:nvSpPr>
          <p:cNvPr id="9" name="Rounded Rectangle 8"/>
          <p:cNvSpPr/>
          <p:nvPr/>
        </p:nvSpPr>
        <p:spPr>
          <a:xfrm>
            <a:off x="731520" y="4937760"/>
            <a:ext cx="10698480" cy="1371600"/>
          </a:xfrm>
          <a:prstGeom prst="roundRect">
            <a:avLst/>
          </a:prstGeom>
          <a:solidFill>
            <a:srgbClr val="101A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defRPr sz="1350" b="1">
                <a:solidFill>
                  <a:srgbClr val="10B981"/>
                </a:solidFill>
                <a:latin typeface="Segoe UI"/>
              </a:defRPr>
            </a:pPr>
            <a:r>
              <a:t>⚡ أداة النقل السحابي المباشر المدمجة (Cross-Cloud Direct Transfer Engine)</a:t>
            </a:r>
          </a:p>
          <a:p>
            <a:pPr algn="r">
              <a:spcBef>
                <a:spcPts val="400"/>
              </a:spcBef>
              <a:defRPr sz="1050">
                <a:solidFill>
                  <a:srgbClr val="F8FAFC"/>
                </a:solidFill>
                <a:latin typeface="Segoe UI"/>
              </a:defRPr>
            </a:pPr>
            <a:r>
              <a:t>نقل عشرات الجيجابايت من سحابة إلى سحابة أخرى (مثلاً من Google Drive إلى OneDrive أو Mega) مباشرة في الذاكرة دون حفظ الملفات على القرص الصلب (Zero Local Disk Footprint)، مما يحافظ على عمر القرص SSD وسرعة جهازك.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CROSS-PLATFORM ENGINEERING</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معمارية برمجية مزدوجة ومستقلة: الحاسوب والهاتف</a:t>
            </a:r>
          </a:p>
          <a:p>
            <a:pPr algn="r">
              <a:spcBef>
                <a:spcPts val="300"/>
              </a:spcBef>
              <a:defRPr sz="1150">
                <a:solidFill>
                  <a:srgbClr val="94A3B8"/>
                </a:solidFill>
                <a:latin typeface="Segoe UI"/>
              </a:defRPr>
            </a:pPr>
            <a:r>
              <a:t>هندسة برمجية بمعايير 25 عاماً: مساران مستقلان بالكامل في التطوير والبناء والإصدار</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3931920" cy="4572000"/>
          </a:xfrm>
          <a:prstGeom prst="roundRect">
            <a:avLst/>
          </a:prstGeom>
          <a:solidFill>
            <a:srgbClr val="0D1527"/>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ot-dashboard.png"/>
          <p:cNvPicPr>
            <a:picLocks noChangeAspect="1"/>
          </p:cNvPicPr>
          <p:nvPr/>
        </p:nvPicPr>
        <p:blipFill>
          <a:blip r:embed="rId3"/>
          <a:stretch>
            <a:fillRect/>
          </a:stretch>
        </p:blipFill>
        <p:spPr>
          <a:xfrm>
            <a:off x="804672" y="1719072"/>
            <a:ext cx="3785615" cy="4187952"/>
          </a:xfrm>
          <a:prstGeom prst="rect">
            <a:avLst/>
          </a:prstGeom>
        </p:spPr>
      </p:pic>
      <p:sp>
        <p:nvSpPr>
          <p:cNvPr id="8" name="TextBox 7"/>
          <p:cNvSpPr txBox="1"/>
          <p:nvPr/>
        </p:nvSpPr>
        <p:spPr>
          <a:xfrm>
            <a:off x="731520" y="5852159"/>
            <a:ext cx="3931920" cy="320040"/>
          </a:xfrm>
          <a:prstGeom prst="rect">
            <a:avLst/>
          </a:prstGeom>
          <a:noFill/>
        </p:spPr>
        <p:txBody>
          <a:bodyPr wrap="none">
            <a:spAutoFit/>
          </a:bodyPr>
          <a:lstStyle/>
          <a:p>
            <a:pPr algn="ctr">
              <a:defRPr sz="950" b="1">
                <a:solidFill>
                  <a:srgbClr val="F8FAFC"/>
                </a:solidFill>
                <a:latin typeface="Segoe UI"/>
              </a:defRPr>
            </a:pPr>
            <a:r>
              <a:t>AuraSync Desktop Native Dashboard (60 FPS)</a:t>
            </a:r>
          </a:p>
        </p:txBody>
      </p:sp>
      <p:sp>
        <p:nvSpPr>
          <p:cNvPr id="9" name="Rounded Rectangle 8"/>
          <p:cNvSpPr/>
          <p:nvPr/>
        </p:nvSpPr>
        <p:spPr>
          <a:xfrm>
            <a:off x="4846320" y="1645920"/>
            <a:ext cx="6583680" cy="2194560"/>
          </a:xfrm>
          <a:prstGeom prst="roundRect">
            <a:avLst/>
          </a:prstGeom>
          <a:solidFill>
            <a:srgbClr val="0D1527"/>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2563EB"/>
                </a:solidFill>
                <a:latin typeface="Segoe UI"/>
              </a:defRPr>
            </a:pPr>
            <a:r>
              <a:t>💻 المسار الأول: نسخة الحاسوب المستقلة (Desktop Engine)</a:t>
            </a:r>
          </a:p>
          <a:p>
            <a:pPr algn="r">
              <a:spcBef>
                <a:spcPts val="200"/>
              </a:spcBef>
              <a:defRPr sz="900" b="1">
                <a:solidFill>
                  <a:srgbClr val="2563EB"/>
                </a:solidFill>
                <a:latin typeface="Segoe UI"/>
              </a:defRPr>
            </a:pPr>
            <a:r>
              <a:t>[Windows x64 / Portable / Setup]</a:t>
            </a:r>
          </a:p>
          <a:p>
            <a:pPr algn="r">
              <a:spcBef>
                <a:spcPts val="300"/>
              </a:spcBef>
              <a:spcAft>
                <a:spcPts val="100"/>
              </a:spcAft>
              <a:defRPr sz="1000">
                <a:solidFill>
                  <a:srgbClr val="94A3B8"/>
                </a:solidFill>
                <a:latin typeface="Segoe UI"/>
              </a:defRPr>
            </a:pPr>
            <a:r>
              <a:t>• البيئة واللغات: Electron + Node.js 20+ مع واجهة React 18 و Vite فائقة السرعة.</a:t>
            </a:r>
          </a:p>
          <a:p>
            <a:pPr algn="r">
              <a:spcBef>
                <a:spcPts val="300"/>
              </a:spcBef>
              <a:spcAft>
                <a:spcPts val="100"/>
              </a:spcAft>
              <a:defRPr sz="1000">
                <a:solidFill>
                  <a:srgbClr val="94A3B8"/>
                </a:solidFill>
                <a:latin typeface="Segoe UI"/>
              </a:defRPr>
            </a:pPr>
            <a:r>
              <a:t>• قاعدة بيانات محلية فائقة القوة: SQLite WASM مع معاملات الدفعات المجمعة (Batch Transactions).</a:t>
            </a:r>
          </a:p>
          <a:p>
            <a:pPr algn="r">
              <a:spcBef>
                <a:spcPts val="300"/>
              </a:spcBef>
              <a:spcAft>
                <a:spcPts val="100"/>
              </a:spcAft>
              <a:defRPr sz="1000">
                <a:solidFill>
                  <a:srgbClr val="94A3B8"/>
                </a:solidFill>
                <a:latin typeface="Segoe UI"/>
              </a:defRPr>
            </a:pPr>
            <a:r>
              <a:t>• تكامل نظام ويندوز الأصلي: استدعاءات Win32 API وقشرة ويندوز عبر user32.dll وقوائم شل.</a:t>
            </a:r>
          </a:p>
          <a:p>
            <a:pPr algn="r">
              <a:spcBef>
                <a:spcPts val="300"/>
              </a:spcBef>
              <a:spcAft>
                <a:spcPts val="100"/>
              </a:spcAft>
              <a:defRPr sz="1000">
                <a:solidFill>
                  <a:srgbClr val="94A3B8"/>
                </a:solidFill>
                <a:latin typeface="Segoe UI"/>
              </a:defRPr>
            </a:pPr>
            <a:r>
              <a:t>• استهلاك موارد متناهي الصغر: أقل من 65MB رام في الخمول، واستهلاك معالج &lt; 1%.</a:t>
            </a:r>
          </a:p>
        </p:txBody>
      </p:sp>
      <p:sp>
        <p:nvSpPr>
          <p:cNvPr id="10" name="Rounded Rectangle 9"/>
          <p:cNvSpPr/>
          <p:nvPr/>
        </p:nvSpPr>
        <p:spPr>
          <a:xfrm>
            <a:off x="4846320" y="4023360"/>
            <a:ext cx="6583680" cy="2194560"/>
          </a:xfrm>
          <a:prstGeom prst="roundRect">
            <a:avLst/>
          </a:prstGeom>
          <a:solidFill>
            <a:srgbClr val="0D15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10B981"/>
                </a:solidFill>
                <a:latin typeface="Segoe UI"/>
              </a:defRPr>
            </a:pPr>
            <a:r>
              <a:t>📱 المسار الثاني: نسخة الهاتف المستقلة (Android Native APK)</a:t>
            </a:r>
          </a:p>
          <a:p>
            <a:pPr algn="r">
              <a:spcBef>
                <a:spcPts val="200"/>
              </a:spcBef>
              <a:defRPr sz="900" b="1">
                <a:solidFill>
                  <a:srgbClr val="10B981"/>
                </a:solidFill>
                <a:latin typeface="Segoe UI"/>
              </a:defRPr>
            </a:pPr>
            <a:r>
              <a:t>[Android APK Native Engine]</a:t>
            </a:r>
          </a:p>
          <a:p>
            <a:pPr algn="r">
              <a:spcBef>
                <a:spcPts val="300"/>
              </a:spcBef>
              <a:spcAft>
                <a:spcPts val="100"/>
              </a:spcAft>
              <a:defRPr sz="1000">
                <a:solidFill>
                  <a:srgbClr val="94A3B8"/>
                </a:solidFill>
                <a:latin typeface="Segoe UI"/>
              </a:defRPr>
            </a:pPr>
            <a:r>
              <a:t>• تطبيق أندرويد حقيقي: مبني بلغة Java الأصلية (MainActivity.java) مع جسر أصول داخلي فائق السرعة.</a:t>
            </a:r>
          </a:p>
          <a:p>
            <a:pPr algn="r">
              <a:spcBef>
                <a:spcPts val="300"/>
              </a:spcBef>
              <a:spcAft>
                <a:spcPts val="100"/>
              </a:spcAft>
              <a:defRPr sz="1000">
                <a:solidFill>
                  <a:srgbClr val="94A3B8"/>
                </a:solidFill>
                <a:latin typeface="Segoe UI"/>
              </a:defRPr>
            </a:pPr>
            <a:r>
              <a:t>• أمان بيومتري حقيقي: دمج مستشعر البصمة الرسمي للنظام (BiometricPrompt) وليس مجرد محاكاة ويب.</a:t>
            </a:r>
          </a:p>
          <a:p>
            <a:pPr algn="r">
              <a:spcBef>
                <a:spcPts val="300"/>
              </a:spcBef>
              <a:spcAft>
                <a:spcPts val="100"/>
              </a:spcAft>
              <a:defRPr sz="1000">
                <a:solidFill>
                  <a:srgbClr val="94A3B8"/>
                </a:solidFill>
                <a:latin typeface="Segoe UI"/>
              </a:defRPr>
            </a:pPr>
            <a:r>
              <a:t>• مستقبل المشاركة الجماعي: استقبال 900+ صورة وفيديو دفعة واحدة عبر Android Share Intent دون أي انهيار.</a:t>
            </a:r>
          </a:p>
          <a:p>
            <a:pPr algn="r">
              <a:spcBef>
                <a:spcPts val="300"/>
              </a:spcBef>
              <a:spcAft>
                <a:spcPts val="100"/>
              </a:spcAft>
              <a:defRPr sz="1000">
                <a:solidFill>
                  <a:srgbClr val="94A3B8"/>
                </a:solidFill>
                <a:latin typeface="Segoe UI"/>
              </a:defRPr>
            </a:pPr>
            <a:r>
              <a:t>• حزم APK موقعة ومحدثة لأحدث أنظمة Android 14 و Android 15 (Target SDK 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SYSTEMS &amp; BACKEND ARCHITECTURE</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الغوص الهندسي في محرك الحاسوب (Desktop Engine)</a:t>
            </a:r>
          </a:p>
          <a:p>
            <a:pPr algn="r">
              <a:spcBef>
                <a:spcPts val="300"/>
              </a:spcBef>
              <a:defRPr sz="1150">
                <a:solidFill>
                  <a:srgbClr val="94A3B8"/>
                </a:solidFill>
                <a:latin typeface="Segoe UI"/>
              </a:defRPr>
            </a:pPr>
            <a:r>
              <a:t>حلول هندسية عميقة لمعالجة أقفال الملفات، وتسريع قواعد البيانات، واستقرار الذاكرة</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5212080" cy="21945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المعالجة المجمعة وقواعد البيانات (Batch SQLite)</a:t>
            </a:r>
          </a:p>
          <a:p>
            <a:pPr algn="r">
              <a:spcBef>
                <a:spcPts val="200"/>
              </a:spcBef>
              <a:defRPr sz="900" b="1">
                <a:solidFill>
                  <a:srgbClr val="06B6D4"/>
                </a:solidFill>
                <a:latin typeface="Segoe UI"/>
              </a:defRPr>
            </a:pPr>
            <a:r>
              <a:t>[أداء فائق للبيانات]</a:t>
            </a:r>
          </a:p>
          <a:p>
            <a:pPr algn="r">
              <a:spcBef>
                <a:spcPts val="300"/>
              </a:spcBef>
              <a:spcAft>
                <a:spcPts val="100"/>
              </a:spcAft>
              <a:defRPr sz="1000">
                <a:solidFill>
                  <a:srgbClr val="94A3B8"/>
                </a:solidFill>
                <a:latin typeface="Segoe UI"/>
              </a:defRPr>
            </a:pPr>
            <a:r>
              <a:t>• استبدال آلاف استعلامات القرص الفردية بمعاملات مجمعة عبر دالة upsertFilesBatch.</a:t>
            </a:r>
          </a:p>
          <a:p>
            <a:pPr algn="r">
              <a:spcBef>
                <a:spcPts val="300"/>
              </a:spcBef>
              <a:spcAft>
                <a:spcPts val="100"/>
              </a:spcAft>
              <a:defRPr sz="1000">
                <a:solidFill>
                  <a:srgbClr val="94A3B8"/>
                </a:solidFill>
                <a:latin typeface="Segoe UI"/>
              </a:defRPr>
            </a:pPr>
            <a:r>
              <a:t>• تقليص زمن فحص ومزامنة 40,000 ملف من 3 دقائق كاملة إلى أقل من 4 ثوانٍ فقط!</a:t>
            </a:r>
          </a:p>
          <a:p>
            <a:pPr algn="r">
              <a:spcBef>
                <a:spcPts val="300"/>
              </a:spcBef>
              <a:spcAft>
                <a:spcPts val="100"/>
              </a:spcAft>
              <a:defRPr sz="1000">
                <a:solidFill>
                  <a:srgbClr val="94A3B8"/>
                </a:solidFill>
                <a:latin typeface="Segoe UI"/>
              </a:defRPr>
            </a:pPr>
            <a:r>
              <a:t>• فهارس B-Tree محسنة لمسارات الملفات ومعرفات المجلدات لضمان زمن استعلام O(log N).</a:t>
            </a:r>
          </a:p>
          <a:p>
            <a:pPr algn="r">
              <a:spcBef>
                <a:spcPts val="300"/>
              </a:spcBef>
              <a:spcAft>
                <a:spcPts val="100"/>
              </a:spcAft>
              <a:defRPr sz="1000">
                <a:solidFill>
                  <a:srgbClr val="94A3B8"/>
                </a:solidFill>
                <a:latin typeface="Segoe UI"/>
              </a:defRPr>
            </a:pPr>
            <a:r>
              <a:t>• كتابة وحفظ لاتزامني غير حاجب لواجهة المستخدم (Non-blocking async disk flushing).</a:t>
            </a:r>
          </a:p>
        </p:txBody>
      </p:sp>
      <p:sp>
        <p:nvSpPr>
          <p:cNvPr id="7" name="Rounded Rectangle 6"/>
          <p:cNvSpPr/>
          <p:nvPr/>
        </p:nvSpPr>
        <p:spPr>
          <a:xfrm>
            <a:off x="6217920" y="1645920"/>
            <a:ext cx="5212080" cy="2194560"/>
          </a:xfrm>
          <a:prstGeom prst="roundRect">
            <a:avLst/>
          </a:prstGeom>
          <a:solidFill>
            <a:srgbClr val="0D15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F59E0B"/>
                </a:solidFill>
                <a:latin typeface="Segoe UI"/>
              </a:defRPr>
            </a:pPr>
            <a:r>
              <a:t>🧠 كاش المجلدات الذكي (Parent Folder Caching)</a:t>
            </a:r>
          </a:p>
          <a:p>
            <a:pPr algn="r">
              <a:spcBef>
                <a:spcPts val="200"/>
              </a:spcBef>
              <a:defRPr sz="900" b="1">
                <a:solidFill>
                  <a:srgbClr val="F59E0B"/>
                </a:solidFill>
                <a:latin typeface="Segoe UI"/>
              </a:defRPr>
            </a:pPr>
            <a:r>
              <a:t>[تخطي قيود الـ API]</a:t>
            </a:r>
          </a:p>
          <a:p>
            <a:pPr algn="r">
              <a:spcBef>
                <a:spcPts val="300"/>
              </a:spcBef>
              <a:spcAft>
                <a:spcPts val="100"/>
              </a:spcAft>
              <a:defRPr sz="1000">
                <a:solidFill>
                  <a:srgbClr val="94A3B8"/>
                </a:solidFill>
                <a:latin typeface="Segoe UI"/>
              </a:defRPr>
            </a:pPr>
            <a:r>
              <a:t>• معضلة Google Drive: تكرار طلبات البحث عن المجلدات يؤدي لحظر الحساب برمز HTTP 429.</a:t>
            </a:r>
          </a:p>
          <a:p>
            <a:pPr algn="r">
              <a:spcBef>
                <a:spcPts val="300"/>
              </a:spcBef>
              <a:spcAft>
                <a:spcPts val="100"/>
              </a:spcAft>
              <a:defRPr sz="1000">
                <a:solidFill>
                  <a:srgbClr val="94A3B8"/>
                </a:solidFill>
                <a:latin typeface="Segoe UI"/>
              </a:defRPr>
            </a:pPr>
            <a:r>
              <a:t>• ابتكار الكاش الداخلي: تخزين شجرة المجلدات بالذاكرة (parentFolderFilesCache).</a:t>
            </a:r>
          </a:p>
          <a:p>
            <a:pPr algn="r">
              <a:spcBef>
                <a:spcPts val="300"/>
              </a:spcBef>
              <a:spcAft>
                <a:spcPts val="100"/>
              </a:spcAft>
              <a:defRPr sz="1000">
                <a:solidFill>
                  <a:srgbClr val="94A3B8"/>
                </a:solidFill>
                <a:latin typeface="Segoe UI"/>
              </a:defRPr>
            </a:pPr>
            <a:r>
              <a:t>• إلغاء آلاف طلبات files.list المكررة وضمان تدفق الرفع بسرعة خط الإنترنت القصوى.</a:t>
            </a:r>
          </a:p>
          <a:p>
            <a:pPr algn="r">
              <a:spcBef>
                <a:spcPts val="300"/>
              </a:spcBef>
              <a:spcAft>
                <a:spcPts val="100"/>
              </a:spcAft>
              <a:defRPr sz="1000">
                <a:solidFill>
                  <a:srgbClr val="94A3B8"/>
                </a:solidFill>
                <a:latin typeface="Segoe UI"/>
              </a:defRPr>
            </a:pPr>
            <a:r>
              <a:t>• إنشاء تلقائي للمجلدات الفارغة والحفاظ على هيكل المجلدات مطابقاً للأصل 1:1.</a:t>
            </a:r>
          </a:p>
        </p:txBody>
      </p:sp>
      <p:sp>
        <p:nvSpPr>
          <p:cNvPr id="8" name="Rounded Rectangle 7"/>
          <p:cNvSpPr/>
          <p:nvPr/>
        </p:nvSpPr>
        <p:spPr>
          <a:xfrm>
            <a:off x="731520" y="4023360"/>
            <a:ext cx="5212080" cy="2194560"/>
          </a:xfrm>
          <a:prstGeom prst="roundRect">
            <a:avLst/>
          </a:prstGeom>
          <a:solidFill>
            <a:srgbClr val="0D15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10B981"/>
                </a:solidFill>
                <a:latin typeface="Segoe UI"/>
              </a:defRPr>
            </a:pPr>
            <a:r>
              <a:t>🔧 تجاوز أقفال ملفات ويندوز (EBUSY / EPERM)</a:t>
            </a:r>
          </a:p>
          <a:p>
            <a:pPr algn="r">
              <a:spcBef>
                <a:spcPts val="200"/>
              </a:spcBef>
              <a:defRPr sz="900" b="1">
                <a:solidFill>
                  <a:srgbClr val="10B981"/>
                </a:solidFill>
                <a:latin typeface="Segoe UI"/>
              </a:defRPr>
            </a:pPr>
            <a:r>
              <a:t>[مناعة أعطال ويندوز]</a:t>
            </a:r>
          </a:p>
          <a:p>
            <a:pPr algn="r">
              <a:spcBef>
                <a:spcPts val="300"/>
              </a:spcBef>
              <a:spcAft>
                <a:spcPts val="100"/>
              </a:spcAft>
              <a:defRPr sz="1000">
                <a:solidFill>
                  <a:srgbClr val="94A3B8"/>
                </a:solidFill>
                <a:latin typeface="Segoe UI"/>
              </a:defRPr>
            </a:pPr>
            <a:r>
              <a:t>• المعضلة: برامج مكافحة الفيروسات وويندوز تقفل الملفات التنفيذية أثناء التحديثات.</a:t>
            </a:r>
          </a:p>
          <a:p>
            <a:pPr algn="r">
              <a:spcBef>
                <a:spcPts val="300"/>
              </a:spcBef>
              <a:spcAft>
                <a:spcPts val="100"/>
              </a:spcAft>
              <a:defRPr sz="1000">
                <a:solidFill>
                  <a:srgbClr val="94A3B8"/>
                </a:solidFill>
                <a:latin typeface="Segoe UI"/>
              </a:defRPr>
            </a:pPr>
            <a:r>
              <a:t>• الحل المعماري: نظام التفويض لقشرة ويندوز مع إعادة المحاولة المتكررة (Exponential Retry).</a:t>
            </a:r>
          </a:p>
          <a:p>
            <a:pPr algn="r">
              <a:spcBef>
                <a:spcPts val="300"/>
              </a:spcBef>
              <a:spcAft>
                <a:spcPts val="100"/>
              </a:spcAft>
              <a:defRPr sz="1000">
                <a:solidFill>
                  <a:srgbClr val="94A3B8"/>
                </a:solidFill>
                <a:latin typeface="Segoe UI"/>
              </a:defRPr>
            </a:pPr>
            <a:r>
              <a:t>• تحديث ذكي بالدلتا: نسخ الملفات المتغيرة فقط app.asar وتخطي ملفات Chromium الكبيرة.</a:t>
            </a:r>
          </a:p>
          <a:p>
            <a:pPr algn="r">
              <a:spcBef>
                <a:spcPts val="300"/>
              </a:spcBef>
              <a:spcAft>
                <a:spcPts val="100"/>
              </a:spcAft>
              <a:defRPr sz="1000">
                <a:solidFill>
                  <a:srgbClr val="94A3B8"/>
                </a:solidFill>
                <a:latin typeface="Segoe UI"/>
              </a:defRPr>
            </a:pPr>
            <a:r>
              <a:t>• إنهاء التحديث وإعادة تشغيل التطبيق في أقل من 800 ميلي ثانية بصمت تام.</a:t>
            </a:r>
          </a:p>
        </p:txBody>
      </p:sp>
      <p:sp>
        <p:nvSpPr>
          <p:cNvPr id="9" name="Rounded Rectangle 8"/>
          <p:cNvSpPr/>
          <p:nvPr/>
        </p:nvSpPr>
        <p:spPr>
          <a:xfrm>
            <a:off x="6217920" y="4023360"/>
            <a:ext cx="5212080" cy="219456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A855F7"/>
                </a:solidFill>
                <a:latin typeface="Segoe UI"/>
              </a:defRPr>
            </a:pPr>
            <a:r>
              <a:t>🧹 فلترة المخلفات ونقاء السحابة (Zero Junk Guarantee)</a:t>
            </a:r>
          </a:p>
          <a:p>
            <a:pPr algn="r">
              <a:spcBef>
                <a:spcPts val="200"/>
              </a:spcBef>
              <a:defRPr sz="900" b="1">
                <a:solidFill>
                  <a:srgbClr val="A855F7"/>
                </a:solidFill>
                <a:latin typeface="Segoe UI"/>
              </a:defRPr>
            </a:pPr>
            <a:r>
              <a:t>[تخزين سحابي نقي 100%]</a:t>
            </a:r>
          </a:p>
          <a:p>
            <a:pPr algn="r">
              <a:spcBef>
                <a:spcPts val="300"/>
              </a:spcBef>
              <a:spcAft>
                <a:spcPts val="100"/>
              </a:spcAft>
              <a:defRPr sz="1000">
                <a:solidFill>
                  <a:srgbClr val="94A3B8"/>
                </a:solidFill>
                <a:latin typeface="Segoe UI"/>
              </a:defRPr>
            </a:pPr>
            <a:r>
              <a:t>• حجب دائم ونهائي لملفات النظام المخفية: desktop.ini, Thumbs.db, .DS_Store.</a:t>
            </a:r>
          </a:p>
          <a:p>
            <a:pPr algn="r">
              <a:spcBef>
                <a:spcPts val="300"/>
              </a:spcBef>
              <a:spcAft>
                <a:spcPts val="100"/>
              </a:spcAft>
              <a:defRPr sz="1000">
                <a:solidFill>
                  <a:srgbClr val="94A3B8"/>
                </a:solidFill>
                <a:latin typeface="Segoe UI"/>
              </a:defRPr>
            </a:pPr>
            <a:r>
              <a:t>• تطهير فوري لقاعدة البيانات عند الإقلاع لمحو أي سجلات سابقة للملفات المخفية.</a:t>
            </a:r>
          </a:p>
          <a:p>
            <a:pPr algn="r">
              <a:spcBef>
                <a:spcPts val="300"/>
              </a:spcBef>
              <a:spcAft>
                <a:spcPts val="100"/>
              </a:spcAft>
              <a:defRPr sz="1000">
                <a:solidFill>
                  <a:srgbClr val="94A3B8"/>
                </a:solidFill>
                <a:latin typeface="Segoe UI"/>
              </a:defRPr>
            </a:pPr>
            <a:r>
              <a:t>• المحو السحابي الصاعق (1-Second Cloud Wipe): مسح السحابة بالكامل عبر شلال الخوادم.</a:t>
            </a:r>
          </a:p>
          <a:p>
            <a:pPr algn="r">
              <a:spcBef>
                <a:spcPts val="300"/>
              </a:spcBef>
              <a:spcAft>
                <a:spcPts val="100"/>
              </a:spcAft>
              <a:defRPr sz="1000">
                <a:solidFill>
                  <a:srgbClr val="94A3B8"/>
                </a:solidFill>
                <a:latin typeface="Segoe UI"/>
              </a:defRPr>
            </a:pPr>
            <a:r>
              <a:t>• تفريغ سلة المهملات تلقائياً لضمان عودة كوتا التخزين إلى 0GB بدقة.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MOBILE ENGINE &amp; GALLERY ARCHITECTURE</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هندسة نسخة الهاتف: نقل كامل المعرض بضغطة زر</a:t>
            </a:r>
          </a:p>
          <a:p>
            <a:pPr algn="r">
              <a:spcBef>
                <a:spcPts val="300"/>
              </a:spcBef>
              <a:defRPr sz="1150">
                <a:solidFill>
                  <a:srgbClr val="94A3B8"/>
                </a:solidFill>
                <a:latin typeface="Segoe UI"/>
              </a:defRPr>
            </a:pPr>
            <a:r>
              <a:t>حل مشكلة امتلاء ذاكرة الهاتف وتقديم تجربة مستخدم سريعة، مشفرة ومستقلة</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5212080" cy="2194560"/>
          </a:xfrm>
          <a:prstGeom prst="roundRect">
            <a:avLst/>
          </a:prstGeom>
          <a:solidFill>
            <a:srgbClr val="0D15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10B981"/>
                </a:solidFill>
                <a:latin typeface="Segoe UI"/>
              </a:defRPr>
            </a:pPr>
            <a:r>
              <a:t>📁 مجلد الهاتف المخصص (aurasync-mobile)</a:t>
            </a:r>
          </a:p>
          <a:p>
            <a:pPr algn="r">
              <a:spcBef>
                <a:spcPts val="200"/>
              </a:spcBef>
              <a:defRPr sz="900" b="1">
                <a:solidFill>
                  <a:srgbClr val="10B981"/>
                </a:solidFill>
                <a:latin typeface="Segoe UI"/>
              </a:defRPr>
            </a:pPr>
            <a:r>
              <a:t>[تنظيم سحابي تلقائي]</a:t>
            </a:r>
          </a:p>
          <a:p>
            <a:pPr algn="r">
              <a:spcBef>
                <a:spcPts val="300"/>
              </a:spcBef>
              <a:spcAft>
                <a:spcPts val="100"/>
              </a:spcAft>
              <a:defRPr sz="1000">
                <a:solidFill>
                  <a:srgbClr val="94A3B8"/>
                </a:solidFill>
                <a:latin typeface="Segoe UI"/>
              </a:defRPr>
            </a:pPr>
            <a:r>
              <a:t>• عزل كامل لملفات الهاتف: إنشاء مجلد aurasync-mobile تلقائياً على كل السحابات.</a:t>
            </a:r>
          </a:p>
          <a:p>
            <a:pPr algn="r">
              <a:spcBef>
                <a:spcPts val="300"/>
              </a:spcBef>
              <a:spcAft>
                <a:spcPts val="100"/>
              </a:spcAft>
              <a:defRPr sz="1000">
                <a:solidFill>
                  <a:srgbClr val="94A3B8"/>
                </a:solidFill>
                <a:latin typeface="Segoe UI"/>
              </a:defRPr>
            </a:pPr>
            <a:r>
              <a:t>• عدم خلط صور الهاتف بملفات الكمبيوتر أو مجلدات العمل لضمان الترتيب التام.</a:t>
            </a:r>
          </a:p>
          <a:p>
            <a:pPr algn="r">
              <a:spcBef>
                <a:spcPts val="300"/>
              </a:spcBef>
              <a:spcAft>
                <a:spcPts val="100"/>
              </a:spcAft>
              <a:defRPr sz="1000">
                <a:solidFill>
                  <a:srgbClr val="94A3B8"/>
                </a:solidFill>
                <a:latin typeface="Segoe UI"/>
              </a:defRPr>
            </a:pPr>
            <a:r>
              <a:t>• التحقق الحقيقي من السحابة: فحص وجود المجلد السحابي والملفات قبل أي عملية تنزيل.</a:t>
            </a:r>
          </a:p>
          <a:p>
            <a:pPr algn="r">
              <a:spcBef>
                <a:spcPts val="300"/>
              </a:spcBef>
              <a:spcAft>
                <a:spcPts val="100"/>
              </a:spcAft>
              <a:defRPr sz="1000">
                <a:solidFill>
                  <a:srgbClr val="94A3B8"/>
                </a:solidFill>
                <a:latin typeface="Segoe UI"/>
              </a:defRPr>
            </a:pPr>
            <a:r>
              <a:t>• ميزة إخلاء مساحة الهاتف الآمنة بعد التأكد التام من اكتمال الرفع السحابي.</a:t>
            </a:r>
          </a:p>
        </p:txBody>
      </p:sp>
      <p:sp>
        <p:nvSpPr>
          <p:cNvPr id="7" name="Rounded Rectangle 6"/>
          <p:cNvSpPr/>
          <p:nvPr/>
        </p:nvSpPr>
        <p:spPr>
          <a:xfrm>
            <a:off x="6217920" y="1645920"/>
            <a:ext cx="5212080" cy="21945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مشاركة 900+ ملف دفعة واحدة (Bulk Share Intent)</a:t>
            </a:r>
          </a:p>
          <a:p>
            <a:pPr algn="r">
              <a:spcBef>
                <a:spcPts val="200"/>
              </a:spcBef>
              <a:defRPr sz="900" b="1">
                <a:solidFill>
                  <a:srgbClr val="06B6D4"/>
                </a:solidFill>
                <a:latin typeface="Segoe UI"/>
              </a:defRPr>
            </a:pPr>
            <a:r>
              <a:t>[سرعة استيعاب قصوى]</a:t>
            </a:r>
          </a:p>
          <a:p>
            <a:pPr algn="r">
              <a:spcBef>
                <a:spcPts val="300"/>
              </a:spcBef>
              <a:spcAft>
                <a:spcPts val="100"/>
              </a:spcAft>
              <a:defRPr sz="1000">
                <a:solidFill>
                  <a:srgbClr val="94A3B8"/>
                </a:solidFill>
                <a:latin typeface="Segoe UI"/>
              </a:defRPr>
            </a:pPr>
            <a:r>
              <a:t>• استقبال المشاركات الضخمة عبر MainActivity.java بنظام ACTION_SEND_MULTIPLE.</a:t>
            </a:r>
          </a:p>
          <a:p>
            <a:pPr algn="r">
              <a:spcBef>
                <a:spcPts val="300"/>
              </a:spcBef>
              <a:spcAft>
                <a:spcPts val="100"/>
              </a:spcAft>
              <a:defRPr sz="1000">
                <a:solidFill>
                  <a:srgbClr val="94A3B8"/>
                </a:solidFill>
                <a:latin typeface="Segoe UI"/>
              </a:defRPr>
            </a:pPr>
            <a:r>
              <a:t>• تحديد مئات الصور والفيديوهات من معرض سامسونج أو شاومي ومشاركتها مباشرة مع AuraSync.</a:t>
            </a:r>
          </a:p>
          <a:p>
            <a:pPr algn="r">
              <a:spcBef>
                <a:spcPts val="300"/>
              </a:spcBef>
              <a:spcAft>
                <a:spcPts val="100"/>
              </a:spcAft>
              <a:defRPr sz="1000">
                <a:solidFill>
                  <a:srgbClr val="94A3B8"/>
                </a:solidFill>
                <a:latin typeface="Segoe UI"/>
              </a:defRPr>
            </a:pPr>
            <a:r>
              <a:t>• محرك الرفع المتوازي مع شريط تقدم حي ومؤشر {done} / {total} دقيق بالثانية.</a:t>
            </a:r>
          </a:p>
          <a:p>
            <a:pPr algn="r">
              <a:spcBef>
                <a:spcPts val="300"/>
              </a:spcBef>
              <a:spcAft>
                <a:spcPts val="100"/>
              </a:spcAft>
              <a:defRPr sz="1000">
                <a:solidFill>
                  <a:srgbClr val="94A3B8"/>
                </a:solidFill>
                <a:latin typeface="Segoe UI"/>
              </a:defRPr>
            </a:pPr>
            <a:r>
              <a:t>• استئناف تلقائي لعمليات الرفع عند انقطاع الإنترنت دون إعادة الملفات من البداية.</a:t>
            </a:r>
          </a:p>
        </p:txBody>
      </p:sp>
      <p:sp>
        <p:nvSpPr>
          <p:cNvPr id="8" name="Rounded Rectangle 7"/>
          <p:cNvSpPr/>
          <p:nvPr/>
        </p:nvSpPr>
        <p:spPr>
          <a:xfrm>
            <a:off x="731520" y="4023360"/>
            <a:ext cx="5212080" cy="219456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A855F7"/>
                </a:solidFill>
                <a:latin typeface="Segoe UI"/>
              </a:defRPr>
            </a:pPr>
            <a:r>
              <a:t>👆 الأمان البيومتري ولوحة PIN التفاعلية</a:t>
            </a:r>
          </a:p>
          <a:p>
            <a:pPr algn="r">
              <a:spcBef>
                <a:spcPts val="200"/>
              </a:spcBef>
              <a:defRPr sz="900" b="1">
                <a:solidFill>
                  <a:srgbClr val="A855F7"/>
                </a:solidFill>
                <a:latin typeface="Segoe UI"/>
              </a:defRPr>
            </a:pPr>
            <a:r>
              <a:t>[حماية بيومترية حقيقية]</a:t>
            </a:r>
          </a:p>
          <a:p>
            <a:pPr algn="r">
              <a:spcBef>
                <a:spcPts val="300"/>
              </a:spcBef>
              <a:spcAft>
                <a:spcPts val="100"/>
              </a:spcAft>
              <a:defRPr sz="1000">
                <a:solidFill>
                  <a:srgbClr val="94A3B8"/>
                </a:solidFill>
                <a:latin typeface="Segoe UI"/>
              </a:defRPr>
            </a:pPr>
            <a:r>
              <a:t>• مستشعر البصمة الحقيقي: استدعاء واجهة BiometricPrompt الرسمية لنظام أندرويد.</a:t>
            </a:r>
          </a:p>
          <a:p>
            <a:pPr algn="r">
              <a:spcBef>
                <a:spcPts val="300"/>
              </a:spcBef>
              <a:spcAft>
                <a:spcPts val="100"/>
              </a:spcAft>
              <a:defRPr sz="1000">
                <a:solidFill>
                  <a:srgbClr val="94A3B8"/>
                </a:solidFill>
                <a:latin typeface="Segoe UI"/>
              </a:defRPr>
            </a:pPr>
            <a:r>
              <a:t>• لوحة أرقام PIN زجاجية (12-Key Glassmorphism) مع ردود فعل حركية عند الخطأ.</a:t>
            </a:r>
          </a:p>
          <a:p>
            <a:pPr algn="r">
              <a:spcBef>
                <a:spcPts val="300"/>
              </a:spcBef>
              <a:spcAft>
                <a:spcPts val="100"/>
              </a:spcAft>
              <a:defRPr sz="1000">
                <a:solidFill>
                  <a:srgbClr val="94A3B8"/>
                </a:solidFill>
                <a:latin typeface="Segoe UI"/>
              </a:defRPr>
            </a:pPr>
            <a:r>
              <a:t>• جسر أمان لاتزامني: لا يتم فتح القفل إلا بعد صدور إشارة المصادقة الحقيقية من الهاتف.</a:t>
            </a:r>
          </a:p>
          <a:p>
            <a:pPr algn="r">
              <a:spcBef>
                <a:spcPts val="300"/>
              </a:spcBef>
              <a:spcAft>
                <a:spcPts val="100"/>
              </a:spcAft>
              <a:defRPr sz="1000">
                <a:solidFill>
                  <a:srgbClr val="94A3B8"/>
                </a:solidFill>
                <a:latin typeface="Segoe UI"/>
              </a:defRPr>
            </a:pPr>
            <a:r>
              <a:t>• حماية الخزنة السحابية من أي متطفل حتى لو كان الهاتف مفتوحاً.</a:t>
            </a:r>
          </a:p>
        </p:txBody>
      </p:sp>
      <p:sp>
        <p:nvSpPr>
          <p:cNvPr id="9" name="Rounded Rectangle 8"/>
          <p:cNvSpPr/>
          <p:nvPr/>
        </p:nvSpPr>
        <p:spPr>
          <a:xfrm>
            <a:off x="6217920" y="4023360"/>
            <a:ext cx="5212080" cy="2194560"/>
          </a:xfrm>
          <a:prstGeom prst="roundRect">
            <a:avLst/>
          </a:prstGeom>
          <a:solidFill>
            <a:srgbClr val="0D15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F59E0B"/>
                </a:solidFill>
                <a:latin typeface="Segoe UI"/>
              </a:defRPr>
            </a:pPr>
            <a:r>
              <a:t>🔋 حارس البطارية وشبكة الواي فاي (Smart Sentinel)</a:t>
            </a:r>
          </a:p>
          <a:p>
            <a:pPr algn="r">
              <a:spcBef>
                <a:spcPts val="200"/>
              </a:spcBef>
              <a:defRPr sz="900" b="1">
                <a:solidFill>
                  <a:srgbClr val="F59E0B"/>
                </a:solidFill>
                <a:latin typeface="Segoe UI"/>
              </a:defRPr>
            </a:pPr>
            <a:r>
              <a:t>[استهلاك ذكي للطاقة]</a:t>
            </a:r>
          </a:p>
          <a:p>
            <a:pPr algn="r">
              <a:spcBef>
                <a:spcPts val="300"/>
              </a:spcBef>
              <a:spcAft>
                <a:spcPts val="100"/>
              </a:spcAft>
              <a:defRPr sz="1000">
                <a:solidFill>
                  <a:srgbClr val="94A3B8"/>
                </a:solidFill>
                <a:latin typeface="Segoe UI"/>
              </a:defRPr>
            </a:pPr>
            <a:r>
              <a:t>• المزامنة الذكية المشروطة: إمكانية تفعيل النسخ التلقائي عند الاتصال بشبكة Wi-Fi فقط.</a:t>
            </a:r>
          </a:p>
          <a:p>
            <a:pPr algn="r">
              <a:spcBef>
                <a:spcPts val="300"/>
              </a:spcBef>
              <a:spcAft>
                <a:spcPts val="100"/>
              </a:spcAft>
              <a:defRPr sz="1000">
                <a:solidFill>
                  <a:srgbClr val="94A3B8"/>
                </a:solidFill>
                <a:latin typeface="Segoe UI"/>
              </a:defRPr>
            </a:pPr>
            <a:r>
              <a:t>• المزامنة أثناء الشحن فقط: للحفاظ على عمر البطارية ومنع استنزافها أثناء التنقل.</a:t>
            </a:r>
          </a:p>
          <a:p>
            <a:pPr algn="r">
              <a:spcBef>
                <a:spcPts val="300"/>
              </a:spcBef>
              <a:spcAft>
                <a:spcPts val="100"/>
              </a:spcAft>
              <a:defRPr sz="1000">
                <a:solidFill>
                  <a:srgbClr val="94A3B8"/>
                </a:solidFill>
                <a:latin typeface="Segoe UI"/>
              </a:defRPr>
            </a:pPr>
            <a:r>
              <a:t>• فحص البصمة الرقمية (Hash Deduplication): منع إعادة رفع الصور المكررة نهائياً.</a:t>
            </a:r>
          </a:p>
          <a:p>
            <a:pPr algn="r">
              <a:spcBef>
                <a:spcPts val="300"/>
              </a:spcBef>
              <a:spcAft>
                <a:spcPts val="100"/>
              </a:spcAft>
              <a:defRPr sz="1000">
                <a:solidFill>
                  <a:srgbClr val="94A3B8"/>
                </a:solidFill>
                <a:latin typeface="Segoe UI"/>
              </a:defRPr>
            </a:pPr>
            <a:r>
              <a:t>• توافق كامل مع Android 14 و Android 15 بحزم APK موقعة وخالية من الشاشات السوداء.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CYBERSECURITY &amp; BROWSER GUARD</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الأمن السيبراني: تشفير الحاويات وحارس المتصفحات</a:t>
            </a:r>
          </a:p>
          <a:p>
            <a:pPr algn="r">
              <a:spcBef>
                <a:spcPts val="300"/>
              </a:spcBef>
              <a:defRPr sz="1150">
                <a:solidFill>
                  <a:srgbClr val="94A3B8"/>
                </a:solidFill>
                <a:latin typeface="Segoe UI"/>
              </a:defRPr>
            </a:pPr>
            <a:r>
              <a:t>ابتكار غير مسبوق يدمج بين التشفير العسكري وقفل تصفح الإنترنت الفوري لحماية الخصوصية</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3931920" cy="457200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ot-protection.png"/>
          <p:cNvPicPr>
            <a:picLocks noChangeAspect="1"/>
          </p:cNvPicPr>
          <p:nvPr/>
        </p:nvPicPr>
        <p:blipFill>
          <a:blip r:embed="rId3"/>
          <a:stretch>
            <a:fillRect/>
          </a:stretch>
        </p:blipFill>
        <p:spPr>
          <a:xfrm>
            <a:off x="804672" y="1719072"/>
            <a:ext cx="3785615" cy="4187952"/>
          </a:xfrm>
          <a:prstGeom prst="rect">
            <a:avLst/>
          </a:prstGeom>
        </p:spPr>
      </p:pic>
      <p:sp>
        <p:nvSpPr>
          <p:cNvPr id="8" name="TextBox 7"/>
          <p:cNvSpPr txBox="1"/>
          <p:nvPr/>
        </p:nvSpPr>
        <p:spPr>
          <a:xfrm>
            <a:off x="731520" y="5852159"/>
            <a:ext cx="3931920" cy="320040"/>
          </a:xfrm>
          <a:prstGeom prst="rect">
            <a:avLst/>
          </a:prstGeom>
          <a:noFill/>
        </p:spPr>
        <p:txBody>
          <a:bodyPr wrap="none">
            <a:spAutoFit/>
          </a:bodyPr>
          <a:lstStyle/>
          <a:p>
            <a:pPr algn="ctr">
              <a:defRPr sz="950" b="1">
                <a:solidFill>
                  <a:srgbClr val="F8FAFC"/>
                </a:solidFill>
                <a:latin typeface="Segoe UI"/>
              </a:defRPr>
            </a:pPr>
            <a:r>
              <a:t>AuraSync Browser Guard &amp; PIN Security Hub</a:t>
            </a:r>
          </a:p>
        </p:txBody>
      </p:sp>
      <p:sp>
        <p:nvSpPr>
          <p:cNvPr id="9" name="Rounded Rectangle 8"/>
          <p:cNvSpPr/>
          <p:nvPr/>
        </p:nvSpPr>
        <p:spPr>
          <a:xfrm>
            <a:off x="4846320" y="1645920"/>
            <a:ext cx="6583680" cy="219456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A855F7"/>
                </a:solidFill>
                <a:latin typeface="Segoe UI"/>
              </a:defRPr>
            </a:pPr>
            <a:r>
              <a:t>🛡️ ابتكار حارس المتصفحات الفوري (Browser Guard Innovation)</a:t>
            </a:r>
          </a:p>
          <a:p>
            <a:pPr algn="r">
              <a:spcBef>
                <a:spcPts val="200"/>
              </a:spcBef>
              <a:defRPr sz="900" b="1">
                <a:solidFill>
                  <a:srgbClr val="A855F7"/>
                </a:solidFill>
                <a:latin typeface="Segoe UI"/>
              </a:defRPr>
            </a:pPr>
            <a:r>
              <a:t>[ابتكار أمني حصري]</a:t>
            </a:r>
          </a:p>
          <a:p>
            <a:pPr algn="r">
              <a:spcBef>
                <a:spcPts val="300"/>
              </a:spcBef>
              <a:spcAft>
                <a:spcPts val="100"/>
              </a:spcAft>
              <a:defRPr sz="1000">
                <a:solidFill>
                  <a:srgbClr val="94A3B8"/>
                </a:solidFill>
                <a:latin typeface="Segoe UI"/>
              </a:defRPr>
            </a:pPr>
            <a:r>
              <a:t>• مراقبة النواة بسرعة 35 ميلي ثانية عبر استدعاءات user32.dll لنوافذ المتصفحات النشطة.</a:t>
            </a:r>
          </a:p>
          <a:p>
            <a:pPr algn="r">
              <a:spcBef>
                <a:spcPts val="300"/>
              </a:spcBef>
              <a:spcAft>
                <a:spcPts val="100"/>
              </a:spcAft>
              <a:defRPr sz="1000">
                <a:solidFill>
                  <a:srgbClr val="94A3B8"/>
                </a:solidFill>
                <a:latin typeface="Segoe UI"/>
              </a:defRPr>
            </a:pPr>
            <a:r>
              <a:t>• دعم كافة المتصفحات الشهيرة: Chrome, Microsoft Edge, Brave, Firefox, Opera, Arc.</a:t>
            </a:r>
          </a:p>
          <a:p>
            <a:pPr algn="r">
              <a:spcBef>
                <a:spcPts val="300"/>
              </a:spcBef>
              <a:spcAft>
                <a:spcPts val="100"/>
              </a:spcAft>
              <a:defRPr sz="1000">
                <a:solidFill>
                  <a:srgbClr val="94A3B8"/>
                </a:solidFill>
                <a:latin typeface="Segoe UI"/>
              </a:defRPr>
            </a:pPr>
            <a:r>
              <a:t>• قفل فوري (0ms) بمجرد التبديل للمتصفح مع ظهور بطاقة زجاجية فاخرة لإدخال رمز PIN.</a:t>
            </a:r>
          </a:p>
          <a:p>
            <a:pPr algn="r">
              <a:spcBef>
                <a:spcPts val="300"/>
              </a:spcBef>
              <a:spcAft>
                <a:spcPts val="100"/>
              </a:spcAft>
              <a:defRPr sz="1000">
                <a:solidFill>
                  <a:srgbClr val="94A3B8"/>
                </a:solidFill>
                <a:latin typeface="Segoe UI"/>
              </a:defRPr>
            </a:pPr>
            <a:r>
              <a:t>• حماية نظام ويندوز الصارمة: بعد محاولتين خاطئتين للرمز، يتم قفل الكمبيوتر بالكامل فوراً (Win + L).</a:t>
            </a:r>
          </a:p>
        </p:txBody>
      </p:sp>
      <p:sp>
        <p:nvSpPr>
          <p:cNvPr id="10" name="Rounded Rectangle 9"/>
          <p:cNvSpPr/>
          <p:nvPr/>
        </p:nvSpPr>
        <p:spPr>
          <a:xfrm>
            <a:off x="4846320" y="4023360"/>
            <a:ext cx="6583680" cy="21945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خزنة التشفير العسكري والجلسة المعزولة (Aura Vault)</a:t>
            </a:r>
          </a:p>
          <a:p>
            <a:pPr algn="r">
              <a:spcBef>
                <a:spcPts val="200"/>
              </a:spcBef>
              <a:defRPr sz="900" b="1">
                <a:solidFill>
                  <a:srgbClr val="06B6D4"/>
                </a:solidFill>
                <a:latin typeface="Segoe UI"/>
              </a:defRPr>
            </a:pPr>
            <a:r>
              <a:t>[AES-256 Authenticated]</a:t>
            </a:r>
          </a:p>
          <a:p>
            <a:pPr algn="r">
              <a:spcBef>
                <a:spcPts val="300"/>
              </a:spcBef>
              <a:spcAft>
                <a:spcPts val="100"/>
              </a:spcAft>
              <a:defRPr sz="1000">
                <a:solidFill>
                  <a:srgbClr val="94A3B8"/>
                </a:solidFill>
                <a:latin typeface="Segoe UI"/>
              </a:defRPr>
            </a:pPr>
            <a:r>
              <a:t>• تشفير الحاويات الكاملة بتقنية AES-256-GCM مع اشتقاق المفاتيح عبر PBKDF2 المنيع.</a:t>
            </a:r>
          </a:p>
          <a:p>
            <a:pPr algn="r">
              <a:spcBef>
                <a:spcPts val="300"/>
              </a:spcBef>
              <a:spcAft>
                <a:spcPts val="100"/>
              </a:spcAft>
              <a:defRPr sz="1000">
                <a:solidFill>
                  <a:srgbClr val="94A3B8"/>
                </a:solidFill>
                <a:latin typeface="Segoe UI"/>
              </a:defRPr>
            </a:pPr>
            <a:r>
              <a:t>• تشفير مجلدات كاملة مع كافة تفرعاتها داخل حاوية مشفرة واحدة (.aura / AURADIR01).</a:t>
            </a:r>
          </a:p>
          <a:p>
            <a:pPr algn="r">
              <a:spcBef>
                <a:spcPts val="300"/>
              </a:spcBef>
              <a:spcAft>
                <a:spcPts val="100"/>
              </a:spcAft>
              <a:defRPr sz="1000">
                <a:solidFill>
                  <a:srgbClr val="94A3B8"/>
                </a:solidFill>
                <a:latin typeface="Segoe UI"/>
              </a:defRPr>
            </a:pPr>
            <a:r>
              <a:t>• الجلسة المعزولة الآمنة: فك تشفير المجلد مؤقتاً في جلسة معزولة، وإعادة القفل التلقائي ومحو الملفات المكشوفة فور إغلاق نافذة المجلد.</a:t>
            </a:r>
          </a:p>
          <a:p>
            <a:pPr algn="r">
              <a:spcBef>
                <a:spcPts val="300"/>
              </a:spcBef>
              <a:spcAft>
                <a:spcPts val="100"/>
              </a:spcAft>
              <a:defRPr sz="1000">
                <a:solidFill>
                  <a:srgbClr val="94A3B8"/>
                </a:solidFill>
                <a:latin typeface="Segoe UI"/>
              </a:defRPr>
            </a:pPr>
            <a:r>
              <a:t>• تكامل مباشر مع قائمة كليك يمين في ويندوز مع دعم رموز PIN السريعة المكونة من 4 أرقام.</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DISASTER RECOVERY &amp; PC MIGRATION</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استعادة الجهاز وهجرة الحواسيب بنقرة واحدة (1-Click Recovery)</a:t>
            </a:r>
          </a:p>
          <a:p>
            <a:pPr algn="r">
              <a:spcBef>
                <a:spcPts val="300"/>
              </a:spcBef>
              <a:defRPr sz="1150">
                <a:solidFill>
                  <a:srgbClr val="94A3B8"/>
                </a:solidFill>
                <a:latin typeface="Segoe UI"/>
              </a:defRPr>
            </a:pPr>
            <a:r>
              <a:t>إعادة بناء جهازك بالكامل بعد الفورمات أو الانتقال لحاسوب جديد بنفس الترتيب والمجلدات</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3931920" cy="4572000"/>
          </a:xfrm>
          <a:prstGeom prst="roundRect">
            <a:avLst/>
          </a:prstGeom>
          <a:solidFill>
            <a:srgbClr val="0D15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oud-migration.jpg"/>
          <p:cNvPicPr>
            <a:picLocks noChangeAspect="1"/>
          </p:cNvPicPr>
          <p:nvPr/>
        </p:nvPicPr>
        <p:blipFill>
          <a:blip r:embed="rId3"/>
          <a:stretch>
            <a:fillRect/>
          </a:stretch>
        </p:blipFill>
        <p:spPr>
          <a:xfrm>
            <a:off x="804672" y="1719072"/>
            <a:ext cx="3785615" cy="4187952"/>
          </a:xfrm>
          <a:prstGeom prst="rect">
            <a:avLst/>
          </a:prstGeom>
        </p:spPr>
      </p:pic>
      <p:sp>
        <p:nvSpPr>
          <p:cNvPr id="8" name="TextBox 7"/>
          <p:cNvSpPr txBox="1"/>
          <p:nvPr/>
        </p:nvSpPr>
        <p:spPr>
          <a:xfrm>
            <a:off x="731520" y="5852159"/>
            <a:ext cx="3931920" cy="320040"/>
          </a:xfrm>
          <a:prstGeom prst="rect">
            <a:avLst/>
          </a:prstGeom>
          <a:noFill/>
        </p:spPr>
        <p:txBody>
          <a:bodyPr wrap="none">
            <a:spAutoFit/>
          </a:bodyPr>
          <a:lstStyle/>
          <a:p>
            <a:pPr algn="ctr">
              <a:defRPr sz="950" b="1">
                <a:solidFill>
                  <a:srgbClr val="F8FAFC"/>
                </a:solidFill>
                <a:latin typeface="Segoe UI"/>
              </a:defRPr>
            </a:pPr>
            <a:r>
              <a:t>1-Click PC Migration &amp; Bare-Metal Restore</a:t>
            </a:r>
          </a:p>
        </p:txBody>
      </p:sp>
      <p:sp>
        <p:nvSpPr>
          <p:cNvPr id="9" name="Rounded Rectangle 8"/>
          <p:cNvSpPr/>
          <p:nvPr/>
        </p:nvSpPr>
        <p:spPr>
          <a:xfrm>
            <a:off x="4846320" y="1645920"/>
            <a:ext cx="6583680" cy="2194560"/>
          </a:xfrm>
          <a:prstGeom prst="roundRect">
            <a:avLst/>
          </a:prstGeom>
          <a:solidFill>
            <a:srgbClr val="0D15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F59E0B"/>
                </a:solidFill>
                <a:latin typeface="Segoe UI"/>
              </a:defRPr>
            </a:pPr>
            <a:r>
              <a:t>💾 معمارية بصمة الجهاز (aurasync-machine-manifest.json)</a:t>
            </a:r>
          </a:p>
          <a:p>
            <a:pPr algn="r">
              <a:spcBef>
                <a:spcPts val="200"/>
              </a:spcBef>
              <a:defRPr sz="900" b="1">
                <a:solidFill>
                  <a:srgbClr val="F59E0B"/>
                </a:solidFill>
                <a:latin typeface="Segoe UI"/>
              </a:defRPr>
            </a:pPr>
            <a:r>
              <a:t>[بصمة سحابية ذكية]</a:t>
            </a:r>
          </a:p>
          <a:p>
            <a:pPr algn="r">
              <a:spcBef>
                <a:spcPts val="300"/>
              </a:spcBef>
              <a:spcAft>
                <a:spcPts val="100"/>
              </a:spcAft>
              <a:defRPr sz="1000">
                <a:solidFill>
                  <a:srgbClr val="94A3B8"/>
                </a:solidFill>
                <a:latin typeface="Segoe UI"/>
              </a:defRPr>
            </a:pPr>
            <a:r>
              <a:t>• حفظ خريطة المجلدات السحابية: يتم تسجيل مسارات الحاسوب الأصلية في ملف مانيفست سحابي ذكي.</a:t>
            </a:r>
          </a:p>
          <a:p>
            <a:pPr algn="r">
              <a:spcBef>
                <a:spcPts val="300"/>
              </a:spcBef>
              <a:spcAft>
                <a:spcPts val="100"/>
              </a:spcAft>
              <a:defRPr sz="1000">
                <a:solidFill>
                  <a:srgbClr val="94A3B8"/>
                </a:solidFill>
                <a:latin typeface="Segoe UI"/>
              </a:defRPr>
            </a:pPr>
            <a:r>
              <a:t>• التعرف التلقائي على مسارات ويندوز القياسية وإعادة ربطها فورياً على الجهاز الجديد:</a:t>
            </a:r>
          </a:p>
          <a:p>
            <a:pPr algn="r">
              <a:spcBef>
                <a:spcPts val="300"/>
              </a:spcBef>
              <a:spcAft>
                <a:spcPts val="100"/>
              </a:spcAft>
              <a:defRPr sz="1000">
                <a:solidFill>
                  <a:srgbClr val="94A3B8"/>
                </a:solidFill>
                <a:latin typeface="Segoe UI"/>
              </a:defRPr>
            </a:pPr>
            <a:r>
              <a:t>• Desktop ➔ سطح المكتب الجديد  |  Documents ➔ المستندات  |  Pictures ➔ الصور.</a:t>
            </a:r>
          </a:p>
          <a:p>
            <a:pPr algn="r">
              <a:spcBef>
                <a:spcPts val="300"/>
              </a:spcBef>
              <a:spcAft>
                <a:spcPts val="100"/>
              </a:spcAft>
              <a:defRPr sz="1000">
                <a:solidFill>
                  <a:srgbClr val="94A3B8"/>
                </a:solidFill>
                <a:latin typeface="Segoe UI"/>
              </a:defRPr>
            </a:pPr>
            <a:r>
              <a:t>• التعامل الذكي مع مسارات ون درايف الافتراضية وإعادة توجيهها دون حدوث تكرار للملفات.</a:t>
            </a:r>
          </a:p>
        </p:txBody>
      </p:sp>
      <p:sp>
        <p:nvSpPr>
          <p:cNvPr id="10" name="Rounded Rectangle 9"/>
          <p:cNvSpPr/>
          <p:nvPr/>
        </p:nvSpPr>
        <p:spPr>
          <a:xfrm>
            <a:off x="4846320" y="4023360"/>
            <a:ext cx="6583680" cy="21945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محرك التنزيل المتزامن فائق السرعة (Parallel Restore)</a:t>
            </a:r>
          </a:p>
          <a:p>
            <a:pPr algn="r">
              <a:spcBef>
                <a:spcPts val="200"/>
              </a:spcBef>
              <a:defRPr sz="900" b="1">
                <a:solidFill>
                  <a:srgbClr val="06B6D4"/>
                </a:solidFill>
                <a:latin typeface="Segoe UI"/>
              </a:defRPr>
            </a:pPr>
            <a:r>
              <a:t>[استرجاع فوري متكامل]</a:t>
            </a:r>
          </a:p>
          <a:p>
            <a:pPr algn="r">
              <a:spcBef>
                <a:spcPts val="300"/>
              </a:spcBef>
              <a:spcAft>
                <a:spcPts val="100"/>
              </a:spcAft>
              <a:defRPr sz="1000">
                <a:solidFill>
                  <a:srgbClr val="94A3B8"/>
                </a:solidFill>
                <a:latin typeface="Segoe UI"/>
              </a:defRPr>
            </a:pPr>
            <a:r>
              <a:t>• حوض عمال متوازيين (Download Worker Pool) لتنزيل عشرات الملفات بالتزامن.</a:t>
            </a:r>
          </a:p>
          <a:p>
            <a:pPr algn="r">
              <a:spcBef>
                <a:spcPts val="300"/>
              </a:spcBef>
              <a:spcAft>
                <a:spcPts val="100"/>
              </a:spcAft>
              <a:defRPr sz="1000">
                <a:solidFill>
                  <a:srgbClr val="94A3B8"/>
                </a:solidFill>
                <a:latin typeface="Segoe UI"/>
              </a:defRPr>
            </a:pPr>
            <a:r>
              <a:t>• مؤشرات سرعة وإنجاز حية: عداد رقمي دقيق للسرعة بالثانية ونسبة مئوية للإتمام.</a:t>
            </a:r>
          </a:p>
          <a:p>
            <a:pPr algn="r">
              <a:spcBef>
                <a:spcPts val="300"/>
              </a:spcBef>
              <a:spcAft>
                <a:spcPts val="100"/>
              </a:spcAft>
              <a:defRPr sz="1000">
                <a:solidFill>
                  <a:srgbClr val="94A3B8"/>
                </a:solidFill>
                <a:latin typeface="Segoe UI"/>
              </a:defRPr>
            </a:pPr>
            <a:r>
              <a:t>• التخطي الذكي للملفات المتطابقة: عدم إهدار الإنترنت في تنزيل ملفات موجودة بالفعل.</a:t>
            </a:r>
          </a:p>
          <a:p>
            <a:pPr algn="r">
              <a:spcBef>
                <a:spcPts val="300"/>
              </a:spcBef>
              <a:spcAft>
                <a:spcPts val="100"/>
              </a:spcAft>
              <a:defRPr sz="1000">
                <a:solidFill>
                  <a:srgbClr val="94A3B8"/>
                </a:solidFill>
                <a:latin typeface="Segoe UI"/>
              </a:defRPr>
            </a:pPr>
            <a:r>
              <a:t>• إعادة تفعيل المراقبة وتلوين المجلدات تلقائياً بمجرد اكتمال عملية الاستعادة.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HIGH-THROUGHPUT NETWORKING</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محرك السرعة الفائقة واستغلال شبكات الفايبر (Turbo Concurrency)</a:t>
            </a:r>
          </a:p>
          <a:p>
            <a:pPr algn="r">
              <a:spcBef>
                <a:spcPts val="300"/>
              </a:spcBef>
              <a:defRPr sz="1150">
                <a:solidFill>
                  <a:srgbClr val="94A3B8"/>
                </a:solidFill>
                <a:latin typeface="Segoe UI"/>
              </a:defRPr>
            </a:pPr>
            <a:r>
              <a:t>أقصى استغلال لسرعة الإنترنت وسحق زمن الانتظار عبر المعالجة المتزامنة المتعددة</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5212080" cy="2194560"/>
          </a:xfrm>
          <a:prstGeom prst="roundRect">
            <a:avLst/>
          </a:prstGeom>
          <a:solidFill>
            <a:srgbClr val="0D15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F59E0B"/>
                </a:solidFill>
                <a:latin typeface="Segoe UI"/>
              </a:defRPr>
            </a:pPr>
            <a:r>
              <a:t>🎛️ أنماط السرعة الأربعة (Speed &amp; Concurrency Profiles)</a:t>
            </a:r>
          </a:p>
          <a:p>
            <a:pPr algn="r">
              <a:spcBef>
                <a:spcPts val="200"/>
              </a:spcBef>
              <a:defRPr sz="900" b="1">
                <a:solidFill>
                  <a:srgbClr val="F59E0B"/>
                </a:solidFill>
                <a:latin typeface="Segoe UI"/>
              </a:defRPr>
            </a:pPr>
            <a:r>
              <a:t>[تخصيص كامل للأداء]</a:t>
            </a:r>
          </a:p>
          <a:p>
            <a:pPr algn="r">
              <a:spcBef>
                <a:spcPts val="300"/>
              </a:spcBef>
              <a:spcAft>
                <a:spcPts val="100"/>
              </a:spcAft>
              <a:defRPr sz="1000">
                <a:solidFill>
                  <a:srgbClr val="94A3B8"/>
                </a:solidFill>
                <a:latin typeface="Segoe UI"/>
              </a:defRPr>
            </a:pPr>
            <a:r>
              <a:t>• نمط الهدوء (Quiet — 2 Workers): استهلاك صفري للموارد، مثالي للألعاب ومكالمات الفيديو.</a:t>
            </a:r>
          </a:p>
          <a:p>
            <a:pPr algn="r">
              <a:spcBef>
                <a:spcPts val="300"/>
              </a:spcBef>
              <a:spcAft>
                <a:spcPts val="100"/>
              </a:spcAft>
              <a:defRPr sz="1000">
                <a:solidFill>
                  <a:srgbClr val="94A3B8"/>
                </a:solidFill>
                <a:latin typeface="Segoe UI"/>
              </a:defRPr>
            </a:pPr>
            <a:r>
              <a:t>• النمط المتوازن الموصى به (Balanced — 4 Workers): أفضل توازن بين السرعة والانسيابية.</a:t>
            </a:r>
          </a:p>
          <a:p>
            <a:pPr algn="r">
              <a:spcBef>
                <a:spcPts val="300"/>
              </a:spcBef>
              <a:spcAft>
                <a:spcPts val="100"/>
              </a:spcAft>
              <a:defRPr sz="1000">
                <a:solidFill>
                  <a:srgbClr val="94A3B8"/>
                </a:solidFill>
                <a:latin typeface="Segoe UI"/>
              </a:defRPr>
            </a:pPr>
            <a:r>
              <a:t>• نمط التوربو (Turbo — 8 to 16 Workers): مضاعفة سرعة الرفع لشبكات الألياف العادية.</a:t>
            </a:r>
          </a:p>
          <a:p>
            <a:pPr algn="r">
              <a:spcBef>
                <a:spcPts val="300"/>
              </a:spcBef>
              <a:spcAft>
                <a:spcPts val="100"/>
              </a:spcAft>
              <a:defRPr sz="1000">
                <a:solidFill>
                  <a:srgbClr val="94A3B8"/>
                </a:solidFill>
                <a:latin typeface="Segoe UI"/>
              </a:defRPr>
            </a:pPr>
            <a:r>
              <a:t>• ألترا توربو لسرعات الفايبر (Ultra Turbo — 24 to 32 Workers): استغلال خطوط 1000 Mbps بالكامل.</a:t>
            </a:r>
          </a:p>
        </p:txBody>
      </p:sp>
      <p:sp>
        <p:nvSpPr>
          <p:cNvPr id="7" name="Rounded Rectangle 6"/>
          <p:cNvSpPr/>
          <p:nvPr/>
        </p:nvSpPr>
        <p:spPr>
          <a:xfrm>
            <a:off x="6217920" y="1645920"/>
            <a:ext cx="5212080" cy="21945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تخطي زمن استجابة السحابة (Overcoming HTTP Latency)</a:t>
            </a:r>
          </a:p>
          <a:p>
            <a:pPr algn="r">
              <a:spcBef>
                <a:spcPts val="200"/>
              </a:spcBef>
              <a:defRPr sz="900" b="1">
                <a:solidFill>
                  <a:srgbClr val="06B6D4"/>
                </a:solidFill>
                <a:latin typeface="Segoe UI"/>
              </a:defRPr>
            </a:pPr>
            <a:r>
              <a:t>[تشبع النطاق الترددي]</a:t>
            </a:r>
          </a:p>
          <a:p>
            <a:pPr algn="r">
              <a:spcBef>
                <a:spcPts val="300"/>
              </a:spcBef>
              <a:spcAft>
                <a:spcPts val="100"/>
              </a:spcAft>
              <a:defRPr sz="1000">
                <a:solidFill>
                  <a:srgbClr val="94A3B8"/>
                </a:solidFill>
                <a:latin typeface="Segoe UI"/>
              </a:defRPr>
            </a:pPr>
            <a:r>
              <a:t>• معضلة السحابة: استجابة خوادم جوجل ومايكروسوفت تستغرق 200-400ms لكل ملف فردي.</a:t>
            </a:r>
          </a:p>
          <a:p>
            <a:pPr algn="r">
              <a:spcBef>
                <a:spcPts val="300"/>
              </a:spcBef>
              <a:spcAft>
                <a:spcPts val="100"/>
              </a:spcAft>
              <a:defRPr sz="1000">
                <a:solidFill>
                  <a:srgbClr val="94A3B8"/>
                </a:solidFill>
                <a:latin typeface="Segoe UI"/>
              </a:defRPr>
            </a:pPr>
            <a:r>
              <a:t>• الحل: الرفع المتوازي لـ 32 ملفاً في نفس اللحظة يجعل سرعة الرفع مشبعة لخط الإنترنت تماماً.</a:t>
            </a:r>
          </a:p>
          <a:p>
            <a:pPr algn="r">
              <a:spcBef>
                <a:spcPts val="300"/>
              </a:spcBef>
              <a:spcAft>
                <a:spcPts val="100"/>
              </a:spcAft>
              <a:defRPr sz="1000">
                <a:solidFill>
                  <a:srgbClr val="94A3B8"/>
                </a:solidFill>
                <a:latin typeface="Segoe UI"/>
              </a:defRPr>
            </a:pPr>
            <a:r>
              <a:t>• رفع آلاف الصور والمستندات في دقائق معدودة بدلاً من الانتظار لساعات طويلة.</a:t>
            </a:r>
          </a:p>
          <a:p>
            <a:pPr algn="r">
              <a:spcBef>
                <a:spcPts val="300"/>
              </a:spcBef>
              <a:spcAft>
                <a:spcPts val="100"/>
              </a:spcAft>
              <a:defRPr sz="1000">
                <a:solidFill>
                  <a:srgbClr val="94A3B8"/>
                </a:solidFill>
                <a:latin typeface="Segoe UI"/>
              </a:defRPr>
            </a:pPr>
            <a:r>
              <a:t>• إعادة المحاولة الذكية المتدرجة (Exponential Backoff) عند حدوث أي تقلب بالشبكة.</a:t>
            </a:r>
          </a:p>
        </p:txBody>
      </p:sp>
      <p:sp>
        <p:nvSpPr>
          <p:cNvPr id="8" name="Rounded Rectangle 7"/>
          <p:cNvSpPr/>
          <p:nvPr/>
        </p:nvSpPr>
        <p:spPr>
          <a:xfrm>
            <a:off x="731520" y="4023360"/>
            <a:ext cx="2468880" cy="2103120"/>
          </a:xfrm>
          <a:prstGeom prst="roundRect">
            <a:avLst/>
          </a:prstGeom>
          <a:solidFill>
            <a:srgbClr val="0C122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109728" bIns="91440"/>
          <a:lstStyle/>
          <a:p>
            <a:pPr algn="ctr">
              <a:defRPr sz="2000" b="1">
                <a:solidFill>
                  <a:srgbClr val="06B6D4"/>
                </a:solidFill>
                <a:latin typeface="Segoe UI"/>
              </a:defRPr>
            </a:pPr>
            <a:r>
              <a:t>4 ثوانٍ</a:t>
            </a:r>
          </a:p>
          <a:p>
            <a:pPr algn="ctr">
              <a:spcBef>
                <a:spcPts val="200"/>
              </a:spcBef>
              <a:defRPr sz="1050" b="1">
                <a:solidFill>
                  <a:srgbClr val="F8FAFC"/>
                </a:solidFill>
                <a:latin typeface="Segoe UI"/>
              </a:defRPr>
            </a:pPr>
            <a:r>
              <a:t>فحص 40,000 ملف</a:t>
            </a:r>
          </a:p>
          <a:p>
            <a:pPr algn="ctr">
              <a:spcBef>
                <a:spcPts val="200"/>
              </a:spcBef>
              <a:defRPr sz="850">
                <a:solidFill>
                  <a:srgbClr val="94A3B8"/>
                </a:solidFill>
                <a:latin typeface="Segoe UI"/>
              </a:defRPr>
            </a:pPr>
            <a:r>
              <a:t>بدلاً من 3 دقائق سابقاً</a:t>
            </a:r>
          </a:p>
        </p:txBody>
      </p:sp>
      <p:sp>
        <p:nvSpPr>
          <p:cNvPr id="9" name="Rounded Rectangle 8"/>
          <p:cNvSpPr/>
          <p:nvPr/>
        </p:nvSpPr>
        <p:spPr>
          <a:xfrm>
            <a:off x="3474720" y="4023360"/>
            <a:ext cx="2468880" cy="2103120"/>
          </a:xfrm>
          <a:prstGeom prst="roundRect">
            <a:avLst/>
          </a:prstGeom>
          <a:solidFill>
            <a:srgbClr val="0C122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09728" bIns="91440"/>
          <a:lstStyle/>
          <a:p>
            <a:pPr algn="ctr">
              <a:defRPr sz="2000" b="1">
                <a:solidFill>
                  <a:srgbClr val="10B981"/>
                </a:solidFill>
                <a:latin typeface="Segoe UI"/>
              </a:defRPr>
            </a:pPr>
            <a:r>
              <a:t>&lt; 65 MB</a:t>
            </a:r>
          </a:p>
          <a:p>
            <a:pPr algn="ctr">
              <a:spcBef>
                <a:spcPts val="200"/>
              </a:spcBef>
              <a:defRPr sz="1050" b="1">
                <a:solidFill>
                  <a:srgbClr val="F8FAFC"/>
                </a:solidFill>
                <a:latin typeface="Segoe UI"/>
              </a:defRPr>
            </a:pPr>
            <a:r>
              <a:t>استهلاك الذاكرة (RAM)</a:t>
            </a:r>
          </a:p>
          <a:p>
            <a:pPr algn="ctr">
              <a:spcBef>
                <a:spcPts val="200"/>
              </a:spcBef>
              <a:defRPr sz="850">
                <a:solidFill>
                  <a:srgbClr val="94A3B8"/>
                </a:solidFill>
                <a:latin typeface="Segoe UI"/>
              </a:defRPr>
            </a:pPr>
            <a:r>
              <a:t>خفة فائقة في وضع الخمول</a:t>
            </a:r>
          </a:p>
        </p:txBody>
      </p:sp>
      <p:sp>
        <p:nvSpPr>
          <p:cNvPr id="10" name="Rounded Rectangle 9"/>
          <p:cNvSpPr/>
          <p:nvPr/>
        </p:nvSpPr>
        <p:spPr>
          <a:xfrm>
            <a:off x="6217920" y="4023360"/>
            <a:ext cx="2468880" cy="2103120"/>
          </a:xfrm>
          <a:prstGeom prst="roundRect">
            <a:avLst/>
          </a:prstGeom>
          <a:solidFill>
            <a:srgbClr val="0C122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09728" bIns="91440"/>
          <a:lstStyle/>
          <a:p>
            <a:pPr algn="ctr">
              <a:defRPr sz="2000" b="1">
                <a:solidFill>
                  <a:srgbClr val="F59E0B"/>
                </a:solidFill>
                <a:latin typeface="Segoe UI"/>
              </a:defRPr>
            </a:pPr>
            <a:r>
              <a:t>1 ثانية</a:t>
            </a:r>
          </a:p>
          <a:p>
            <a:pPr algn="ctr">
              <a:spcBef>
                <a:spcPts val="200"/>
              </a:spcBef>
              <a:defRPr sz="1050" b="1">
                <a:solidFill>
                  <a:srgbClr val="F8FAFC"/>
                </a:solidFill>
                <a:latin typeface="Segoe UI"/>
              </a:defRPr>
            </a:pPr>
            <a:r>
              <a:t>تصفير السحابة بالكامل</a:t>
            </a:r>
          </a:p>
          <a:p>
            <a:pPr algn="ctr">
              <a:spcBef>
                <a:spcPts val="200"/>
              </a:spcBef>
              <a:defRPr sz="850">
                <a:solidFill>
                  <a:srgbClr val="94A3B8"/>
                </a:solidFill>
                <a:latin typeface="Segoe UI"/>
              </a:defRPr>
            </a:pPr>
            <a:r>
              <a:t>عبر خوارزمية Cascade Deletion</a:t>
            </a:r>
          </a:p>
        </p:txBody>
      </p:sp>
      <p:sp>
        <p:nvSpPr>
          <p:cNvPr id="11" name="Rounded Rectangle 10"/>
          <p:cNvSpPr/>
          <p:nvPr/>
        </p:nvSpPr>
        <p:spPr>
          <a:xfrm>
            <a:off x="8961120" y="4023360"/>
            <a:ext cx="2468880" cy="2103120"/>
          </a:xfrm>
          <a:prstGeom prst="roundRect">
            <a:avLst/>
          </a:prstGeom>
          <a:solidFill>
            <a:srgbClr val="0C1221"/>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tIns="109728" bIns="91440"/>
          <a:lstStyle/>
          <a:p>
            <a:pPr algn="ctr">
              <a:defRPr sz="2000" b="1">
                <a:solidFill>
                  <a:srgbClr val="A855F7"/>
                </a:solidFill>
                <a:latin typeface="Segoe UI"/>
              </a:defRPr>
            </a:pPr>
            <a:r>
              <a:t>60 FPS</a:t>
            </a:r>
          </a:p>
          <a:p>
            <a:pPr algn="ctr">
              <a:spcBef>
                <a:spcPts val="200"/>
              </a:spcBef>
              <a:defRPr sz="1050" b="1">
                <a:solidFill>
                  <a:srgbClr val="F8FAFC"/>
                </a:solidFill>
                <a:latin typeface="Segoe UI"/>
              </a:defRPr>
            </a:pPr>
            <a:r>
              <a:t>سلاسة تصفح الملفات</a:t>
            </a:r>
          </a:p>
          <a:p>
            <a:pPr algn="ctr">
              <a:spcBef>
                <a:spcPts val="200"/>
              </a:spcBef>
              <a:defRPr sz="850">
                <a:solidFill>
                  <a:srgbClr val="94A3B8"/>
                </a:solidFill>
                <a:latin typeface="Segoe UI"/>
              </a:defRPr>
            </a:pPr>
            <a:r>
              <a:t>عرض افتراضي Windowed Chunking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DESIGN SYSTEM &amp; LUXURY AESTHETICS</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فلسفة التصميم: نظام Calm وثلاثة ثيمات فاخرة</a:t>
            </a:r>
          </a:p>
          <a:p>
            <a:pPr algn="r">
              <a:spcBef>
                <a:spcPts val="300"/>
              </a:spcBef>
              <a:defRPr sz="1150">
                <a:solidFill>
                  <a:srgbClr val="94A3B8"/>
                </a:solidFill>
                <a:latin typeface="Segoe UI"/>
              </a:defRPr>
            </a:pPr>
            <a:r>
              <a:t>تصميم عصري فائق النقاء يدمج بين الفخامة والراحة البصرية وسلاسة التصفح 60FPS</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3931920" cy="457200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ot-files.png"/>
          <p:cNvPicPr>
            <a:picLocks noChangeAspect="1"/>
          </p:cNvPicPr>
          <p:nvPr/>
        </p:nvPicPr>
        <p:blipFill>
          <a:blip r:embed="rId3"/>
          <a:stretch>
            <a:fillRect/>
          </a:stretch>
        </p:blipFill>
        <p:spPr>
          <a:xfrm>
            <a:off x="804672" y="1719072"/>
            <a:ext cx="3785615" cy="4187952"/>
          </a:xfrm>
          <a:prstGeom prst="rect">
            <a:avLst/>
          </a:prstGeom>
        </p:spPr>
      </p:pic>
      <p:sp>
        <p:nvSpPr>
          <p:cNvPr id="8" name="TextBox 7"/>
          <p:cNvSpPr txBox="1"/>
          <p:nvPr/>
        </p:nvSpPr>
        <p:spPr>
          <a:xfrm>
            <a:off x="731520" y="5852159"/>
            <a:ext cx="3931920" cy="320040"/>
          </a:xfrm>
          <a:prstGeom prst="rect">
            <a:avLst/>
          </a:prstGeom>
          <a:noFill/>
        </p:spPr>
        <p:txBody>
          <a:bodyPr wrap="none">
            <a:spAutoFit/>
          </a:bodyPr>
          <a:lstStyle/>
          <a:p>
            <a:pPr algn="ctr">
              <a:defRPr sz="950" b="1">
                <a:solidFill>
                  <a:srgbClr val="F8FAFC"/>
                </a:solidFill>
                <a:latin typeface="Segoe UI"/>
              </a:defRPr>
            </a:pPr>
            <a:r>
              <a:t>Windowed 60 FPS File Explorer &amp; Category View</a:t>
            </a:r>
          </a:p>
        </p:txBody>
      </p:sp>
      <p:sp>
        <p:nvSpPr>
          <p:cNvPr id="9" name="Rounded Rectangle 8"/>
          <p:cNvSpPr/>
          <p:nvPr/>
        </p:nvSpPr>
        <p:spPr>
          <a:xfrm>
            <a:off x="4846320" y="1645920"/>
            <a:ext cx="6583680" cy="21945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نظام التصميم الهادئ (The Calm Visual Design System)</a:t>
            </a:r>
          </a:p>
          <a:p>
            <a:pPr algn="r">
              <a:spcBef>
                <a:spcPts val="200"/>
              </a:spcBef>
              <a:defRPr sz="900" b="1">
                <a:solidFill>
                  <a:srgbClr val="06B6D4"/>
                </a:solidFill>
                <a:latin typeface="Segoe UI"/>
              </a:defRPr>
            </a:pPr>
            <a:r>
              <a:t>[جماليات متقدمة]</a:t>
            </a:r>
          </a:p>
          <a:p>
            <a:pPr algn="r">
              <a:spcBef>
                <a:spcPts val="300"/>
              </a:spcBef>
              <a:spcAft>
                <a:spcPts val="100"/>
              </a:spcAft>
              <a:defRPr sz="1000">
                <a:solidFill>
                  <a:srgbClr val="94A3B8"/>
                </a:solidFill>
                <a:latin typeface="Segoe UI"/>
              </a:defRPr>
            </a:pPr>
            <a:r>
              <a:t>• انحناءات ناعمة مدروسة بدقة 20px تعطي شعوراً بالحداثة والاستقرار النفسي.</a:t>
            </a:r>
          </a:p>
          <a:p>
            <a:pPr algn="r">
              <a:spcBef>
                <a:spcPts val="300"/>
              </a:spcBef>
              <a:spcAft>
                <a:spcPts val="100"/>
              </a:spcAft>
              <a:defRPr sz="1000">
                <a:solidFill>
                  <a:srgbClr val="94A3B8"/>
                </a:solidFill>
                <a:latin typeface="Segoe UI"/>
              </a:defRPr>
            </a:pPr>
            <a:r>
              <a:t>• توهج محيطي خافت (Subtle Ambient Glow) يبرز العناصر المهمة دون إجهاد العين.</a:t>
            </a:r>
          </a:p>
          <a:p>
            <a:pPr algn="r">
              <a:spcBef>
                <a:spcPts val="300"/>
              </a:spcBef>
              <a:spcAft>
                <a:spcPts val="100"/>
              </a:spcAft>
              <a:defRPr sz="1000">
                <a:solidFill>
                  <a:srgbClr val="94A3B8"/>
                </a:solidFill>
                <a:latin typeface="Segoe UI"/>
              </a:defRPr>
            </a:pPr>
            <a:r>
              <a:t>• أزرار تفاعلية لمسية مع استجابة ميكروية سلسة عند النقر والتحويم (Hover &amp; Active States).</a:t>
            </a:r>
          </a:p>
          <a:p>
            <a:pPr algn="r">
              <a:spcBef>
                <a:spcPts val="300"/>
              </a:spcBef>
              <a:spcAft>
                <a:spcPts val="100"/>
              </a:spcAft>
              <a:defRPr sz="1000">
                <a:solidFill>
                  <a:srgbClr val="94A3B8"/>
                </a:solidFill>
                <a:latin typeface="Segoe UI"/>
              </a:defRPr>
            </a:pPr>
            <a:r>
              <a:t>• كبسولات إحصائية مضغوطة توفر نظرة سريعة على حالة المزامنة وسعة التخزين الحقيقية.</a:t>
            </a:r>
          </a:p>
        </p:txBody>
      </p:sp>
      <p:sp>
        <p:nvSpPr>
          <p:cNvPr id="10" name="Rounded Rectangle 9"/>
          <p:cNvSpPr/>
          <p:nvPr/>
        </p:nvSpPr>
        <p:spPr>
          <a:xfrm>
            <a:off x="4846320" y="4023360"/>
            <a:ext cx="6583680" cy="219456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A855F7"/>
                </a:solidFill>
                <a:latin typeface="Segoe UI"/>
              </a:defRPr>
            </a:pPr>
            <a:r>
              <a:t>✨ الثيمات الثلاثة الفاخرة وسلاسة العرض (60 FPS)</a:t>
            </a:r>
          </a:p>
          <a:p>
            <a:pPr algn="r">
              <a:spcBef>
                <a:spcPts val="200"/>
              </a:spcBef>
              <a:defRPr sz="900" b="1">
                <a:solidFill>
                  <a:srgbClr val="A855F7"/>
                </a:solidFill>
                <a:latin typeface="Segoe UI"/>
              </a:defRPr>
            </a:pPr>
            <a:r>
              <a:t>[ثيمات أصلية متباينة]</a:t>
            </a:r>
          </a:p>
          <a:p>
            <a:pPr algn="r">
              <a:spcBef>
                <a:spcPts val="300"/>
              </a:spcBef>
              <a:spcAft>
                <a:spcPts val="100"/>
              </a:spcAft>
              <a:defRPr sz="1000">
                <a:solidFill>
                  <a:srgbClr val="94A3B8"/>
                </a:solidFill>
                <a:latin typeface="Segoe UI"/>
              </a:defRPr>
            </a:pPr>
            <a:r>
              <a:t>• الأسود الفاحم النقي (Pure Pitch Black): خلفيات #000000 مع أزرق ملكي كلاسيكي وتصميم إنساني أصيل بدون توهج صناعي مزعج.</a:t>
            </a:r>
          </a:p>
          <a:p>
            <a:pPr algn="r">
              <a:spcBef>
                <a:spcPts val="300"/>
              </a:spcBef>
              <a:spcAft>
                <a:spcPts val="100"/>
              </a:spcAft>
              <a:defRPr sz="1000">
                <a:solidFill>
                  <a:srgbClr val="94A3B8"/>
                </a:solidFill>
                <a:latin typeface="Segoe UI"/>
              </a:defRPr>
            </a:pPr>
            <a:r>
              <a:t>• الأزرق الكحلي الملكي (Midnight Sapphire): زرقة عميقة غنية ومبهرة لبيئات العمل الاحترافية.</a:t>
            </a:r>
          </a:p>
          <a:p>
            <a:pPr algn="r">
              <a:spcBef>
                <a:spcPts val="300"/>
              </a:spcBef>
              <a:spcAft>
                <a:spcPts val="100"/>
              </a:spcAft>
              <a:defRPr sz="1000">
                <a:solidFill>
                  <a:srgbClr val="94A3B8"/>
                </a:solidFill>
                <a:latin typeface="Segoe UI"/>
              </a:defRPr>
            </a:pPr>
            <a:r>
              <a:t>• الأبيض اللؤلؤي العصري (Pristine White): نقاء ووضوح استثنائي للمكاتب المضيئة.</a:t>
            </a:r>
          </a:p>
          <a:p>
            <a:pPr algn="r">
              <a:spcBef>
                <a:spcPts val="300"/>
              </a:spcBef>
              <a:spcAft>
                <a:spcPts val="100"/>
              </a:spcAft>
              <a:defRPr sz="1000">
                <a:solidFill>
                  <a:srgbClr val="94A3B8"/>
                </a:solidFill>
                <a:latin typeface="Segoe UI"/>
              </a:defRPr>
            </a:pPr>
            <a:r>
              <a:t>• تصفح افتراضي خفيف (Windowed Browsing): سلاسة مطلقة عند استعراض آلاف الملفات مثل جوجل درايف.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FINANCIAL IMPACT &amp; BUSINESS VALUE</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دراسة الجدوى وتوفير التكاليف (Enterprise ROI &amp; Cloud Savings)</a:t>
            </a:r>
          </a:p>
          <a:p>
            <a:pPr algn="r">
              <a:spcBef>
                <a:spcPts val="300"/>
              </a:spcBef>
              <a:defRPr sz="1150">
                <a:solidFill>
                  <a:srgbClr val="94A3B8"/>
                </a:solidFill>
                <a:latin typeface="Segoe UI"/>
              </a:defRPr>
            </a:pPr>
            <a:r>
              <a:t>كيف يوفر AuraSync آلاف الدولارات سنوياً للمستخدمين والشركات مع حماية أصول البيانات</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5212080" cy="2194560"/>
          </a:xfrm>
          <a:prstGeom prst="roundRect">
            <a:avLst/>
          </a:prstGeom>
          <a:solidFill>
            <a:srgbClr val="0D15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10B981"/>
                </a:solidFill>
                <a:latin typeface="Segoe UI"/>
              </a:defRPr>
            </a:pPr>
            <a:r>
              <a:t>💰 توحيد السعات المجانية وتفادي الاشتراكات المتكررة</a:t>
            </a:r>
          </a:p>
          <a:p>
            <a:pPr algn="r">
              <a:spcBef>
                <a:spcPts val="200"/>
              </a:spcBef>
              <a:defRPr sz="900" b="1">
                <a:solidFill>
                  <a:srgbClr val="10B981"/>
                </a:solidFill>
                <a:latin typeface="Segoe UI"/>
              </a:defRPr>
            </a:pPr>
            <a:r>
              <a:t>[توفير فوري للأفراد]</a:t>
            </a:r>
          </a:p>
          <a:p>
            <a:pPr algn="r">
              <a:spcBef>
                <a:spcPts val="300"/>
              </a:spcBef>
              <a:spcAft>
                <a:spcPts val="100"/>
              </a:spcAft>
              <a:defRPr sz="1000">
                <a:solidFill>
                  <a:srgbClr val="94A3B8"/>
                </a:solidFill>
                <a:latin typeface="Segoe UI"/>
              </a:defRPr>
            </a:pPr>
            <a:r>
              <a:t>• دمج السعات المجانية: 15GB جوجل + 5GB ون درايف + 20GB ميجا + تيليجرام غير المحدود.</a:t>
            </a:r>
          </a:p>
          <a:p>
            <a:pPr algn="r">
              <a:spcBef>
                <a:spcPts val="300"/>
              </a:spcBef>
              <a:spcAft>
                <a:spcPts val="100"/>
              </a:spcAft>
              <a:defRPr sz="1000">
                <a:solidFill>
                  <a:srgbClr val="94A3B8"/>
                </a:solidFill>
                <a:latin typeface="Segoe UI"/>
              </a:defRPr>
            </a:pPr>
            <a:r>
              <a:t>• يحصل المستخدم العادي على سعة سحابية هائلة مدمجة مجاناً 100% دون الحاجة لدفع أي اشتراك شهري.</a:t>
            </a:r>
          </a:p>
          <a:p>
            <a:pPr algn="r">
              <a:spcBef>
                <a:spcPts val="300"/>
              </a:spcBef>
              <a:spcAft>
                <a:spcPts val="100"/>
              </a:spcAft>
              <a:defRPr sz="1000">
                <a:solidFill>
                  <a:srgbClr val="94A3B8"/>
                </a:solidFill>
                <a:latin typeface="Segoe UI"/>
              </a:defRPr>
            </a:pPr>
            <a:r>
              <a:t>• توفير ما بين 24$ إلى 120$ سنوياً لكل فرد كان يدفعها في اشتراكات Google One أو Dropbox.</a:t>
            </a:r>
          </a:p>
          <a:p>
            <a:pPr algn="r">
              <a:spcBef>
                <a:spcPts val="300"/>
              </a:spcBef>
              <a:spcAft>
                <a:spcPts val="100"/>
              </a:spcAft>
              <a:defRPr sz="1000">
                <a:solidFill>
                  <a:srgbClr val="94A3B8"/>
                </a:solidFill>
                <a:latin typeface="Segoe UI"/>
              </a:defRPr>
            </a:pPr>
            <a:r>
              <a:t>• إدارة كافة الحسابات من نافذة موحدة دون التنقل بين المتصفحات والتطبيقات.</a:t>
            </a:r>
          </a:p>
        </p:txBody>
      </p:sp>
      <p:sp>
        <p:nvSpPr>
          <p:cNvPr id="7" name="Rounded Rectangle 6"/>
          <p:cNvSpPr/>
          <p:nvPr/>
        </p:nvSpPr>
        <p:spPr>
          <a:xfrm>
            <a:off x="6217920" y="1645920"/>
            <a:ext cx="5212080" cy="21945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خفض تكاليف الشركات بنسبة تتجاوز 80%</a:t>
            </a:r>
          </a:p>
          <a:p>
            <a:pPr algn="r">
              <a:spcBef>
                <a:spcPts val="200"/>
              </a:spcBef>
              <a:defRPr sz="900" b="1">
                <a:solidFill>
                  <a:srgbClr val="06B6D4"/>
                </a:solidFill>
                <a:latin typeface="Segoe UI"/>
              </a:defRPr>
            </a:pPr>
            <a:r>
              <a:t>[عائد استثماري ضخم للشركات]</a:t>
            </a:r>
          </a:p>
          <a:p>
            <a:pPr algn="r">
              <a:spcBef>
                <a:spcPts val="300"/>
              </a:spcBef>
              <a:spcAft>
                <a:spcPts val="100"/>
              </a:spcAft>
              <a:defRPr sz="1000">
                <a:solidFill>
                  <a:srgbClr val="94A3B8"/>
                </a:solidFill>
                <a:latin typeface="Segoe UI"/>
              </a:defRPr>
            </a:pPr>
            <a:r>
              <a:t>• استبدال اشتراكات Dropbox Business الباهظة (24$ لكل مستخدم شهرياً) بحلول S3 و Wasabi و Backblaze B2 (فقط 6$ لكل تيرابايت!).</a:t>
            </a:r>
          </a:p>
          <a:p>
            <a:pPr algn="r">
              <a:spcBef>
                <a:spcPts val="300"/>
              </a:spcBef>
              <a:spcAft>
                <a:spcPts val="100"/>
              </a:spcAft>
              <a:defRPr sz="1000">
                <a:solidFill>
                  <a:srgbClr val="94A3B8"/>
                </a:solidFill>
                <a:latin typeface="Segoe UI"/>
              </a:defRPr>
            </a:pPr>
            <a:r>
              <a:t>• توفير أكثر من 70% إلى 80% من فواتير التخزين السحابي السنوية للمؤسسات والشركات الناشئة.</a:t>
            </a:r>
          </a:p>
          <a:p>
            <a:pPr algn="r">
              <a:spcBef>
                <a:spcPts val="300"/>
              </a:spcBef>
              <a:spcAft>
                <a:spcPts val="100"/>
              </a:spcAft>
              <a:defRPr sz="1000">
                <a:solidFill>
                  <a:srgbClr val="94A3B8"/>
                </a:solidFill>
                <a:latin typeface="Segoe UI"/>
              </a:defRPr>
            </a:pPr>
            <a:r>
              <a:t>• انعدام تكاليف الخوادم الوسيطة (Zero Server Overhead): الاتصال يتم مباشرة من أجهزة الموظفين للسحابة.</a:t>
            </a:r>
          </a:p>
          <a:p>
            <a:pPr algn="r">
              <a:spcBef>
                <a:spcPts val="300"/>
              </a:spcBef>
              <a:spcAft>
                <a:spcPts val="100"/>
              </a:spcAft>
              <a:defRPr sz="1000">
                <a:solidFill>
                  <a:srgbClr val="94A3B8"/>
                </a:solidFill>
                <a:latin typeface="Segoe UI"/>
              </a:defRPr>
            </a:pPr>
            <a:r>
              <a:t>• أمان عسكري محلي يغني عن شراء برمجيات تشفير منفصلة باهظة الثمن.</a:t>
            </a:r>
          </a:p>
        </p:txBody>
      </p:sp>
      <p:sp>
        <p:nvSpPr>
          <p:cNvPr id="8" name="Rounded Rectangle 7"/>
          <p:cNvSpPr/>
          <p:nvPr/>
        </p:nvSpPr>
        <p:spPr>
          <a:xfrm>
            <a:off x="731520" y="4023360"/>
            <a:ext cx="3383280" cy="2103120"/>
          </a:xfrm>
          <a:prstGeom prst="roundRect">
            <a:avLst/>
          </a:prstGeom>
          <a:solidFill>
            <a:srgbClr val="0C122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09728" bIns="91440"/>
          <a:lstStyle/>
          <a:p>
            <a:pPr algn="ctr">
              <a:defRPr sz="2000" b="1">
                <a:solidFill>
                  <a:srgbClr val="10B981"/>
                </a:solidFill>
                <a:latin typeface="Segoe UI"/>
              </a:defRPr>
            </a:pPr>
            <a:r>
              <a:t>80%+</a:t>
            </a:r>
          </a:p>
          <a:p>
            <a:pPr algn="ctr">
              <a:spcBef>
                <a:spcPts val="200"/>
              </a:spcBef>
              <a:defRPr sz="1050" b="1">
                <a:solidFill>
                  <a:srgbClr val="F8FAFC"/>
                </a:solidFill>
                <a:latin typeface="Segoe UI"/>
              </a:defRPr>
            </a:pPr>
            <a:r>
              <a:t>وفر سنوي في تكاليف السحابة</a:t>
            </a:r>
          </a:p>
          <a:p>
            <a:pPr algn="ctr">
              <a:spcBef>
                <a:spcPts val="200"/>
              </a:spcBef>
              <a:defRPr sz="850">
                <a:solidFill>
                  <a:srgbClr val="94A3B8"/>
                </a:solidFill>
                <a:latin typeface="Segoe UI"/>
              </a:defRPr>
            </a:pPr>
            <a:r>
              <a:t>باستخدام بروتوكولات S3 و Wasabi المفتوحة</a:t>
            </a:r>
          </a:p>
        </p:txBody>
      </p:sp>
      <p:sp>
        <p:nvSpPr>
          <p:cNvPr id="9" name="Rounded Rectangle 8"/>
          <p:cNvSpPr/>
          <p:nvPr/>
        </p:nvSpPr>
        <p:spPr>
          <a:xfrm>
            <a:off x="4389120" y="4023360"/>
            <a:ext cx="3383280" cy="2103120"/>
          </a:xfrm>
          <a:prstGeom prst="roundRect">
            <a:avLst/>
          </a:prstGeom>
          <a:solidFill>
            <a:srgbClr val="0C122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109728" bIns="91440"/>
          <a:lstStyle/>
          <a:p>
            <a:pPr algn="ctr">
              <a:defRPr sz="2000" b="1">
                <a:solidFill>
                  <a:srgbClr val="06B6D4"/>
                </a:solidFill>
                <a:latin typeface="Segoe UI"/>
              </a:defRPr>
            </a:pPr>
            <a:r>
              <a:t>0 $</a:t>
            </a:r>
          </a:p>
          <a:p>
            <a:pPr algn="ctr">
              <a:spcBef>
                <a:spcPts val="200"/>
              </a:spcBef>
              <a:defRPr sz="1050" b="1">
                <a:solidFill>
                  <a:srgbClr val="F8FAFC"/>
                </a:solidFill>
                <a:latin typeface="Segoe UI"/>
              </a:defRPr>
            </a:pPr>
            <a:r>
              <a:t>تكاليف خوادم وسيطة</a:t>
            </a:r>
          </a:p>
          <a:p>
            <a:pPr algn="ctr">
              <a:spcBef>
                <a:spcPts val="200"/>
              </a:spcBef>
              <a:defRPr sz="850">
                <a:solidFill>
                  <a:srgbClr val="94A3B8"/>
                </a:solidFill>
                <a:latin typeface="Segoe UI"/>
              </a:defRPr>
            </a:pPr>
            <a:r>
              <a:t>اتصال مشفر مباشر من جهازك للسحابة</a:t>
            </a:r>
          </a:p>
        </p:txBody>
      </p:sp>
      <p:sp>
        <p:nvSpPr>
          <p:cNvPr id="10" name="Rounded Rectangle 9"/>
          <p:cNvSpPr/>
          <p:nvPr/>
        </p:nvSpPr>
        <p:spPr>
          <a:xfrm>
            <a:off x="8046720" y="4023360"/>
            <a:ext cx="3383280" cy="2103120"/>
          </a:xfrm>
          <a:prstGeom prst="roundRect">
            <a:avLst/>
          </a:prstGeom>
          <a:solidFill>
            <a:srgbClr val="0C122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09728" bIns="91440"/>
          <a:lstStyle/>
          <a:p>
            <a:pPr algn="ctr">
              <a:defRPr sz="2000" b="1">
                <a:solidFill>
                  <a:srgbClr val="F59E0B"/>
                </a:solidFill>
                <a:latin typeface="Segoe UI"/>
              </a:defRPr>
            </a:pPr>
            <a:r>
              <a:t>100%</a:t>
            </a:r>
          </a:p>
          <a:p>
            <a:pPr algn="ctr">
              <a:spcBef>
                <a:spcPts val="200"/>
              </a:spcBef>
              <a:defRPr sz="1050" b="1">
                <a:solidFill>
                  <a:srgbClr val="F8FAFC"/>
                </a:solidFill>
                <a:latin typeface="Segoe UI"/>
              </a:defRPr>
            </a:pPr>
            <a:r>
              <a:t>حماية ضد خسائر توقف الأعمال</a:t>
            </a:r>
          </a:p>
          <a:p>
            <a:pPr algn="ctr">
              <a:spcBef>
                <a:spcPts val="200"/>
              </a:spcBef>
              <a:defRPr sz="850">
                <a:solidFill>
                  <a:srgbClr val="94A3B8"/>
                </a:solidFill>
                <a:latin typeface="Segoe UI"/>
              </a:defRPr>
            </a:pPr>
            <a:r>
              <a:t>استرجاع فوري للأجهزة وحصانة ضد الفدية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REAL-WORLD APPLICATIONS</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سيناريوهات الاستخدام الميدانية (Target Personas &amp; Use Cases)</a:t>
            </a:r>
          </a:p>
          <a:p>
            <a:pPr algn="r">
              <a:spcBef>
                <a:spcPts val="300"/>
              </a:spcBef>
              <a:defRPr sz="1150">
                <a:solidFill>
                  <a:srgbClr val="94A3B8"/>
                </a:solidFill>
                <a:latin typeface="Segoe UI"/>
              </a:defRPr>
            </a:pPr>
            <a:r>
              <a:t>حلول مخصصة تلبي متطلبات المحترفين، المبرمجين، الشركات، والعائلات</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5212080" cy="21945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1. المصورون وصناع المحتوى (Creators &amp; Photographers)</a:t>
            </a:r>
          </a:p>
          <a:p>
            <a:pPr algn="r">
              <a:spcBef>
                <a:spcPts val="200"/>
              </a:spcBef>
              <a:defRPr sz="900" b="1">
                <a:solidFill>
                  <a:srgbClr val="06B6D4"/>
                </a:solidFill>
                <a:latin typeface="Segoe UI"/>
              </a:defRPr>
            </a:pPr>
            <a:r>
              <a:t>[صناع المحتوى]</a:t>
            </a:r>
          </a:p>
          <a:p>
            <a:pPr algn="r">
              <a:spcBef>
                <a:spcPts val="300"/>
              </a:spcBef>
              <a:spcAft>
                <a:spcPts val="100"/>
              </a:spcAft>
              <a:defRPr sz="1000">
                <a:solidFill>
                  <a:srgbClr val="94A3B8"/>
                </a:solidFill>
                <a:latin typeface="Segoe UI"/>
              </a:defRPr>
            </a:pPr>
            <a:r>
              <a:t>• رفع آلاف الصور بصيغ RAW وفيديوهات 4K الضخمة عبر محرك التوربو بسرعة خط الفايبر الكاملة.</a:t>
            </a:r>
          </a:p>
          <a:p>
            <a:pPr algn="r">
              <a:spcBef>
                <a:spcPts val="300"/>
              </a:spcBef>
              <a:spcAft>
                <a:spcPts val="100"/>
              </a:spcAft>
              <a:defRPr sz="1000">
                <a:solidFill>
                  <a:srgbClr val="94A3B8"/>
                </a:solidFill>
                <a:latin typeface="Segoe UI"/>
              </a:defRPr>
            </a:pPr>
            <a:r>
              <a:t>• نقل مكتبة الصور السحابية من سحابة إلى سحابة أخرى دون تحميلها على القرص الصلب.</a:t>
            </a:r>
          </a:p>
          <a:p>
            <a:pPr algn="r">
              <a:spcBef>
                <a:spcPts val="300"/>
              </a:spcBef>
              <a:spcAft>
                <a:spcPts val="100"/>
              </a:spcAft>
              <a:defRPr sz="1000">
                <a:solidFill>
                  <a:srgbClr val="94A3B8"/>
                </a:solidFill>
                <a:latin typeface="Segoe UI"/>
              </a:defRPr>
            </a:pPr>
            <a:r>
              <a:t>• سياسة انعدام الحذف تضمن عدم ضياع جلسات التصوير الحساسة أثناء فرز الملفات المحلية.</a:t>
            </a:r>
          </a:p>
        </p:txBody>
      </p:sp>
      <p:sp>
        <p:nvSpPr>
          <p:cNvPr id="7" name="Rounded Rectangle 6"/>
          <p:cNvSpPr/>
          <p:nvPr/>
        </p:nvSpPr>
        <p:spPr>
          <a:xfrm>
            <a:off x="6217920" y="1645920"/>
            <a:ext cx="5212080" cy="2194560"/>
          </a:xfrm>
          <a:prstGeom prst="roundRect">
            <a:avLst/>
          </a:prstGeom>
          <a:solidFill>
            <a:srgbClr val="0D15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10B981"/>
                </a:solidFill>
                <a:latin typeface="Segoe UI"/>
              </a:defRPr>
            </a:pPr>
            <a:r>
              <a:t>💻 2. المبرمجون والمهندسون (Developers &amp; Engineers)</a:t>
            </a:r>
          </a:p>
          <a:p>
            <a:pPr algn="r">
              <a:spcBef>
                <a:spcPts val="200"/>
              </a:spcBef>
              <a:defRPr sz="900" b="1">
                <a:solidFill>
                  <a:srgbClr val="10B981"/>
                </a:solidFill>
                <a:latin typeface="Segoe UI"/>
              </a:defRPr>
            </a:pPr>
            <a:r>
              <a:t>[المهندسون والتقنيون]</a:t>
            </a:r>
          </a:p>
          <a:p>
            <a:pPr algn="r">
              <a:spcBef>
                <a:spcPts val="300"/>
              </a:spcBef>
              <a:spcAft>
                <a:spcPts val="100"/>
              </a:spcAft>
              <a:defRPr sz="1000">
                <a:solidFill>
                  <a:srgbClr val="94A3B8"/>
                </a:solidFill>
                <a:latin typeface="Segoe UI"/>
              </a:defRPr>
            </a:pPr>
            <a:r>
              <a:t>• استثناء ذكي للملفات المؤقتة ومجلدات الحزم node_modules و .git لتوفير السعة السحابية.</a:t>
            </a:r>
          </a:p>
          <a:p>
            <a:pPr algn="r">
              <a:spcBef>
                <a:spcPts val="300"/>
              </a:spcBef>
              <a:spcAft>
                <a:spcPts val="100"/>
              </a:spcAft>
              <a:defRPr sz="1000">
                <a:solidFill>
                  <a:srgbClr val="94A3B8"/>
                </a:solidFill>
                <a:latin typeface="Segoe UI"/>
              </a:defRPr>
            </a:pPr>
            <a:r>
              <a:t>• نسخ احتياطي فوري لمشاريع الأكواد والبيانات دون تباطؤ الحاسوب أو تعطيل البرمجة.</a:t>
            </a:r>
          </a:p>
          <a:p>
            <a:pPr algn="r">
              <a:spcBef>
                <a:spcPts val="300"/>
              </a:spcBef>
              <a:spcAft>
                <a:spcPts val="100"/>
              </a:spcAft>
              <a:defRPr sz="1000">
                <a:solidFill>
                  <a:srgbClr val="94A3B8"/>
                </a:solidFill>
                <a:latin typeface="Segoe UI"/>
              </a:defRPr>
            </a:pPr>
            <a:r>
              <a:t>• استعادة بيئة العمل ومجلدات البرمجة بالكامل على أي جهاز جديد بضغطة زر واحدة.</a:t>
            </a:r>
          </a:p>
        </p:txBody>
      </p:sp>
      <p:sp>
        <p:nvSpPr>
          <p:cNvPr id="8" name="Rounded Rectangle 7"/>
          <p:cNvSpPr/>
          <p:nvPr/>
        </p:nvSpPr>
        <p:spPr>
          <a:xfrm>
            <a:off x="731520" y="4023360"/>
            <a:ext cx="5212080" cy="219456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A855F7"/>
                </a:solidFill>
                <a:latin typeface="Segoe UI"/>
              </a:defRPr>
            </a:pPr>
            <a:r>
              <a:t>🏢 3. الشركات وبيئات العمل المشتركة (Enterprises &amp; Offices)</a:t>
            </a:r>
          </a:p>
          <a:p>
            <a:pPr algn="r">
              <a:spcBef>
                <a:spcPts val="200"/>
              </a:spcBef>
              <a:defRPr sz="900" b="1">
                <a:solidFill>
                  <a:srgbClr val="A855F7"/>
                </a:solidFill>
                <a:latin typeface="Segoe UI"/>
              </a:defRPr>
            </a:pPr>
            <a:r>
              <a:t>[الشركات والمؤسسات]</a:t>
            </a:r>
          </a:p>
          <a:p>
            <a:pPr algn="r">
              <a:spcBef>
                <a:spcPts val="300"/>
              </a:spcBef>
              <a:spcAft>
                <a:spcPts val="100"/>
              </a:spcAft>
              <a:defRPr sz="1000">
                <a:solidFill>
                  <a:srgbClr val="94A3B8"/>
                </a:solidFill>
                <a:latin typeface="Segoe UI"/>
              </a:defRPr>
            </a:pPr>
            <a:r>
              <a:t>• حارس المتصفحات Win+L يحمي حسابات العمل الحساسة والبريد والواتساب من تطفل الزملاء والزوار.</a:t>
            </a:r>
          </a:p>
          <a:p>
            <a:pPr algn="r">
              <a:spcBef>
                <a:spcPts val="300"/>
              </a:spcBef>
              <a:spcAft>
                <a:spcPts val="100"/>
              </a:spcAft>
              <a:defRPr sz="1000">
                <a:solidFill>
                  <a:srgbClr val="94A3B8"/>
                </a:solidFill>
                <a:latin typeface="Segoe UI"/>
              </a:defRPr>
            </a:pPr>
            <a:r>
              <a:t>• ربط أجهزة التخزين الشبكي للشركات (Synology / QNAP NAS) عبر بروتوكول WebDAV الموحد.</a:t>
            </a:r>
          </a:p>
          <a:p>
            <a:pPr algn="r">
              <a:spcBef>
                <a:spcPts val="300"/>
              </a:spcBef>
              <a:spcAft>
                <a:spcPts val="100"/>
              </a:spcAft>
              <a:defRPr sz="1000">
                <a:solidFill>
                  <a:srgbClr val="94A3B8"/>
                </a:solidFill>
                <a:latin typeface="Segoe UI"/>
              </a:defRPr>
            </a:pPr>
            <a:r>
              <a:t>• تشفير العقود والمستندات السرية بتقنية AES-256 قبل رفعها للسحابة لحماية الأسرار المؤسسية.</a:t>
            </a:r>
          </a:p>
        </p:txBody>
      </p:sp>
      <p:sp>
        <p:nvSpPr>
          <p:cNvPr id="9" name="Rounded Rectangle 8"/>
          <p:cNvSpPr/>
          <p:nvPr/>
        </p:nvSpPr>
        <p:spPr>
          <a:xfrm>
            <a:off x="6217920" y="4023360"/>
            <a:ext cx="5212080" cy="2194560"/>
          </a:xfrm>
          <a:prstGeom prst="roundRect">
            <a:avLst/>
          </a:prstGeom>
          <a:solidFill>
            <a:srgbClr val="0D15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F59E0B"/>
                </a:solidFill>
                <a:latin typeface="Segoe UI"/>
              </a:defRPr>
            </a:pPr>
            <a:r>
              <a:t>👨‍👩‍👧‍👦 4. العائلات والمستخدمون اليوميون (Everyday Families)</a:t>
            </a:r>
          </a:p>
          <a:p>
            <a:pPr algn="r">
              <a:spcBef>
                <a:spcPts val="200"/>
              </a:spcBef>
              <a:defRPr sz="900" b="1">
                <a:solidFill>
                  <a:srgbClr val="F59E0B"/>
                </a:solidFill>
                <a:latin typeface="Segoe UI"/>
              </a:defRPr>
            </a:pPr>
            <a:r>
              <a:t>[الاستخدام المنزلي]</a:t>
            </a:r>
          </a:p>
          <a:p>
            <a:pPr algn="r">
              <a:spcBef>
                <a:spcPts val="300"/>
              </a:spcBef>
              <a:spcAft>
                <a:spcPts val="100"/>
              </a:spcAft>
              <a:defRPr sz="1000">
                <a:solidFill>
                  <a:srgbClr val="94A3B8"/>
                </a:solidFill>
                <a:latin typeface="Segoe UI"/>
              </a:defRPr>
            </a:pPr>
            <a:r>
              <a:t>• نقل مئات صور وفيديوهات المعرض من الهاتف إلى السحابة بضغطة زر لإخلاء ذاكرة الهاتف فوراً.</a:t>
            </a:r>
          </a:p>
          <a:p>
            <a:pPr algn="r">
              <a:spcBef>
                <a:spcPts val="300"/>
              </a:spcBef>
              <a:spcAft>
                <a:spcPts val="100"/>
              </a:spcAft>
              <a:defRPr sz="1000">
                <a:solidFill>
                  <a:srgbClr val="94A3B8"/>
                </a:solidFill>
                <a:latin typeface="Segoe UI"/>
              </a:defRPr>
            </a:pPr>
            <a:r>
              <a:t>• أمان بيومتري وبصمة إصبع لحماية الصور العائلية في مجلد aurasync-mobile المنعزل.</a:t>
            </a:r>
          </a:p>
          <a:p>
            <a:pPr algn="r">
              <a:spcBef>
                <a:spcPts val="300"/>
              </a:spcBef>
              <a:spcAft>
                <a:spcPts val="100"/>
              </a:spcAft>
              <a:defRPr sz="1000">
                <a:solidFill>
                  <a:srgbClr val="94A3B8"/>
                </a:solidFill>
                <a:latin typeface="Segoe UI"/>
              </a:defRPr>
            </a:pPr>
            <a:r>
              <a:t>• راحة بال مطلقة بعدم ضياع ذكريات العائلة حتى لو تلف الهاتف أو تعطل الحاسوب.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HEAD-TO-HEAD COMPETITIVE MATRIX</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المقارنة الحاسمة: كيف يتفوق AuraSync على عمالقة السحاب؟</a:t>
            </a:r>
          </a:p>
          <a:p>
            <a:pPr algn="r">
              <a:spcBef>
                <a:spcPts val="300"/>
              </a:spcBef>
              <a:defRPr sz="1150">
                <a:solidFill>
                  <a:srgbClr val="94A3B8"/>
                </a:solidFill>
                <a:latin typeface="Segoe UI"/>
              </a:defRPr>
            </a:pPr>
            <a:r>
              <a:t>مقارنة تفصيلية مباشرة توضح الفوارق الجوهرية والامتيازات الحصرية لمنصة AuraSync</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graphicFrame>
        <p:nvGraphicFramePr>
          <p:cNvPr id="6" name="Table 5"/>
          <p:cNvGraphicFramePr>
            <a:graphicFrameLocks noGrp="1"/>
          </p:cNvGraphicFramePr>
          <p:nvPr/>
        </p:nvGraphicFramePr>
        <p:xfrm>
          <a:off x="731520" y="1645920"/>
          <a:ext cx="10698480" cy="4572000"/>
        </p:xfrm>
        <a:graphic>
          <a:graphicData uri="http://schemas.openxmlformats.org/drawingml/2006/table">
            <a:tbl>
              <a:tblPr firstRow="1" bandRow="1">
                <a:tableStyleId>{5C22544A-7EE6-4342-B048-85BDC9FD1C3A}</a:tableStyleId>
              </a:tblPr>
              <a:tblGrid>
                <a:gridCol w="3017520"/>
                <a:gridCol w="1920240"/>
                <a:gridCol w="1463040"/>
                <a:gridCol w="1463040"/>
                <a:gridCol w="1371600"/>
                <a:gridCol w="1463040"/>
              </a:tblGrid>
              <a:tr h="571500">
                <a:tc>
                  <a:txBody>
                    <a:bodyPr/>
                    <a:lstStyle/>
                    <a:p>
                      <a:pPr algn="ctr">
                        <a:defRPr sz="1100" b="1">
                          <a:solidFill>
                            <a:srgbClr val="F8FAFC"/>
                          </a:solidFill>
                          <a:latin typeface="Segoe UI"/>
                        </a:defRPr>
                      </a:pPr>
                      <a:r>
                        <a:t>الميزة والخاصية الهندسية</a:t>
                      </a:r>
                    </a:p>
                  </a:txBody>
                  <a:tcPr>
                    <a:solidFill>
                      <a:srgbClr val="0C1220"/>
                    </a:solidFill>
                  </a:tcPr>
                </a:tc>
                <a:tc>
                  <a:txBody>
                    <a:bodyPr/>
                    <a:lstStyle/>
                    <a:p>
                      <a:pPr algn="ctr">
                        <a:defRPr sz="1100" b="1">
                          <a:solidFill>
                            <a:srgbClr val="06B6D4"/>
                          </a:solidFill>
                          <a:latin typeface="Segoe UI"/>
                        </a:defRPr>
                      </a:pPr>
                      <a:r>
                        <a:t>AuraSync ☁️</a:t>
                      </a:r>
                    </a:p>
                  </a:txBody>
                  <a:tcPr>
                    <a:solidFill>
                      <a:srgbClr val="101C38"/>
                    </a:solidFill>
                  </a:tcPr>
                </a:tc>
                <a:tc>
                  <a:txBody>
                    <a:bodyPr/>
                    <a:lstStyle/>
                    <a:p>
                      <a:pPr algn="ctr">
                        <a:defRPr sz="1100" b="1">
                          <a:solidFill>
                            <a:srgbClr val="F8FAFC"/>
                          </a:solidFill>
                          <a:latin typeface="Segoe UI"/>
                        </a:defRPr>
                      </a:pPr>
                      <a:r>
                        <a:t>Google Drive</a:t>
                      </a:r>
                    </a:p>
                  </a:txBody>
                  <a:tcPr>
                    <a:solidFill>
                      <a:srgbClr val="0C1220"/>
                    </a:solidFill>
                  </a:tcPr>
                </a:tc>
                <a:tc>
                  <a:txBody>
                    <a:bodyPr/>
                    <a:lstStyle/>
                    <a:p>
                      <a:pPr algn="ctr">
                        <a:defRPr sz="1100" b="1">
                          <a:solidFill>
                            <a:srgbClr val="F8FAFC"/>
                          </a:solidFill>
                          <a:latin typeface="Segoe UI"/>
                        </a:defRPr>
                      </a:pPr>
                      <a:r>
                        <a:t>OneDrive</a:t>
                      </a:r>
                    </a:p>
                  </a:txBody>
                  <a:tcPr>
                    <a:solidFill>
                      <a:srgbClr val="0C1220"/>
                    </a:solidFill>
                  </a:tcPr>
                </a:tc>
                <a:tc>
                  <a:txBody>
                    <a:bodyPr/>
                    <a:lstStyle/>
                    <a:p>
                      <a:pPr algn="ctr">
                        <a:defRPr sz="1100" b="1">
                          <a:solidFill>
                            <a:srgbClr val="F8FAFC"/>
                          </a:solidFill>
                          <a:latin typeface="Segoe UI"/>
                        </a:defRPr>
                      </a:pPr>
                      <a:r>
                        <a:t>Dropbox</a:t>
                      </a:r>
                    </a:p>
                  </a:txBody>
                  <a:tcPr>
                    <a:solidFill>
                      <a:srgbClr val="0C1220"/>
                    </a:solidFill>
                  </a:tcPr>
                </a:tc>
                <a:tc>
                  <a:txBody>
                    <a:bodyPr/>
                    <a:lstStyle/>
                    <a:p>
                      <a:pPr algn="ctr">
                        <a:defRPr sz="1100" b="1">
                          <a:solidFill>
                            <a:srgbClr val="F8FAFC"/>
                          </a:solidFill>
                          <a:latin typeface="Segoe UI"/>
                        </a:defRPr>
                      </a:pPr>
                      <a:r>
                        <a:t>Mega.nz</a:t>
                      </a:r>
                    </a:p>
                  </a:txBody>
                  <a:tcPr>
                    <a:solidFill>
                      <a:srgbClr val="0C1220"/>
                    </a:solidFill>
                  </a:tcPr>
                </a:tc>
              </a:tr>
              <a:tr h="571500">
                <a:tc>
                  <a:txBody>
                    <a:bodyPr/>
                    <a:lstStyle/>
                    <a:p>
                      <a:pPr algn="r">
                        <a:defRPr sz="1000">
                          <a:solidFill>
                            <a:srgbClr val="F8FAFC"/>
                          </a:solidFill>
                          <a:latin typeface="Segoe UI"/>
                        </a:defRPr>
                      </a:pPr>
                      <a:r>
                        <a:t>سياسة عدم الحذف عند المسح المحلي (Zero-Deletion)</a:t>
                      </a:r>
                    </a:p>
                  </a:txBody>
                  <a:tcPr>
                    <a:solidFill>
                      <a:srgbClr val="0A0F1C"/>
                    </a:solidFill>
                  </a:tcPr>
                </a:tc>
                <a:tc>
                  <a:txBody>
                    <a:bodyPr/>
                    <a:lstStyle/>
                    <a:p>
                      <a:pPr algn="ctr">
                        <a:defRPr sz="1000" b="1">
                          <a:solidFill>
                            <a:srgbClr val="10B981"/>
                          </a:solidFill>
                          <a:latin typeface="Segoe UI"/>
                        </a:defRPr>
                      </a:pPr>
                      <a:r>
                        <a:t>✅ نعم 100% تلقائي</a:t>
                      </a:r>
                    </a:p>
                  </a:txBody>
                  <a:tcPr>
                    <a:solidFill>
                      <a:srgbClr val="12203C"/>
                    </a:solidFill>
                  </a:tcPr>
                </a:tc>
                <a:tc>
                  <a:txBody>
                    <a:bodyPr/>
                    <a:lstStyle/>
                    <a:p>
                      <a:pPr algn="ctr">
                        <a:defRPr sz="1000">
                          <a:solidFill>
                            <a:srgbClr val="94A3B8"/>
                          </a:solidFill>
                          <a:latin typeface="Segoe UI"/>
                        </a:defRPr>
                      </a:pPr>
                      <a:r>
                        <a:t>❌ يحذف فوراً</a:t>
                      </a:r>
                    </a:p>
                  </a:txBody>
                  <a:tcPr>
                    <a:solidFill>
                      <a:srgbClr val="0A0F1C"/>
                    </a:solidFill>
                  </a:tcPr>
                </a:tc>
                <a:tc>
                  <a:txBody>
                    <a:bodyPr/>
                    <a:lstStyle/>
                    <a:p>
                      <a:pPr algn="ctr">
                        <a:defRPr sz="1000">
                          <a:solidFill>
                            <a:srgbClr val="94A3B8"/>
                          </a:solidFill>
                          <a:latin typeface="Segoe UI"/>
                        </a:defRPr>
                      </a:pPr>
                      <a:r>
                        <a:t>❌ يحذف فوراً</a:t>
                      </a:r>
                    </a:p>
                  </a:txBody>
                  <a:tcPr>
                    <a:solidFill>
                      <a:srgbClr val="0A0F1C"/>
                    </a:solidFill>
                  </a:tcPr>
                </a:tc>
                <a:tc>
                  <a:txBody>
                    <a:bodyPr/>
                    <a:lstStyle/>
                    <a:p>
                      <a:pPr algn="ctr">
                        <a:defRPr sz="1000">
                          <a:solidFill>
                            <a:srgbClr val="94A3B8"/>
                          </a:solidFill>
                          <a:latin typeface="Segoe UI"/>
                        </a:defRPr>
                      </a:pPr>
                      <a:r>
                        <a:t>❌ يحذف فوراً</a:t>
                      </a:r>
                    </a:p>
                  </a:txBody>
                  <a:tcPr>
                    <a:solidFill>
                      <a:srgbClr val="0A0F1C"/>
                    </a:solidFill>
                  </a:tcPr>
                </a:tc>
                <a:tc>
                  <a:txBody>
                    <a:bodyPr/>
                    <a:lstStyle/>
                    <a:p>
                      <a:pPr algn="ctr">
                        <a:defRPr sz="1000">
                          <a:solidFill>
                            <a:srgbClr val="94A3B8"/>
                          </a:solidFill>
                          <a:latin typeface="Segoe UI"/>
                        </a:defRPr>
                      </a:pPr>
                      <a:r>
                        <a:t>❌ يحذف فوراً</a:t>
                      </a:r>
                    </a:p>
                  </a:txBody>
                  <a:tcPr>
                    <a:solidFill>
                      <a:srgbClr val="0A0F1C"/>
                    </a:solidFill>
                  </a:tcPr>
                </a:tc>
              </a:tr>
              <a:tr h="571500">
                <a:tc>
                  <a:txBody>
                    <a:bodyPr/>
                    <a:lstStyle/>
                    <a:p>
                      <a:pPr algn="r">
                        <a:defRPr sz="1000">
                          <a:solidFill>
                            <a:srgbClr val="F8FAFC"/>
                          </a:solidFill>
                          <a:latin typeface="Segoe UI"/>
                        </a:defRPr>
                      </a:pPr>
                      <a:r>
                        <a:t>دمج أكثر من 25 سحابة وبروتوكول بواجهة واحدة</a:t>
                      </a:r>
                    </a:p>
                  </a:txBody>
                  <a:tcPr>
                    <a:solidFill>
                      <a:srgbClr val="0E1424"/>
                    </a:solidFill>
                  </a:tcPr>
                </a:tc>
                <a:tc>
                  <a:txBody>
                    <a:bodyPr/>
                    <a:lstStyle/>
                    <a:p>
                      <a:pPr algn="ctr">
                        <a:defRPr sz="1000" b="1">
                          <a:solidFill>
                            <a:srgbClr val="10B981"/>
                          </a:solidFill>
                          <a:latin typeface="Segoe UI"/>
                        </a:defRPr>
                      </a:pPr>
                      <a:r>
                        <a:t>✅ نعم مدمج موحد</a:t>
                      </a:r>
                    </a:p>
                  </a:txBody>
                  <a:tcPr>
                    <a:solidFill>
                      <a:srgbClr val="12203C"/>
                    </a:solidFill>
                  </a:tcPr>
                </a:tc>
                <a:tc>
                  <a:txBody>
                    <a:bodyPr/>
                    <a:lstStyle/>
                    <a:p>
                      <a:pPr algn="ctr">
                        <a:defRPr sz="1000">
                          <a:solidFill>
                            <a:srgbClr val="94A3B8"/>
                          </a:solidFill>
                          <a:latin typeface="Segoe UI"/>
                        </a:defRPr>
                      </a:pPr>
                      <a:r>
                        <a:t>❌ سحابتهم فقط</a:t>
                      </a:r>
                    </a:p>
                  </a:txBody>
                  <a:tcPr>
                    <a:solidFill>
                      <a:srgbClr val="0E1424"/>
                    </a:solidFill>
                  </a:tcPr>
                </a:tc>
                <a:tc>
                  <a:txBody>
                    <a:bodyPr/>
                    <a:lstStyle/>
                    <a:p>
                      <a:pPr algn="ctr">
                        <a:defRPr sz="1000">
                          <a:solidFill>
                            <a:srgbClr val="94A3B8"/>
                          </a:solidFill>
                          <a:latin typeface="Segoe UI"/>
                        </a:defRPr>
                      </a:pPr>
                      <a:r>
                        <a:t>❌ سحابتهم فقط</a:t>
                      </a:r>
                    </a:p>
                  </a:txBody>
                  <a:tcPr>
                    <a:solidFill>
                      <a:srgbClr val="0E1424"/>
                    </a:solidFill>
                  </a:tcPr>
                </a:tc>
                <a:tc>
                  <a:txBody>
                    <a:bodyPr/>
                    <a:lstStyle/>
                    <a:p>
                      <a:pPr algn="ctr">
                        <a:defRPr sz="1000">
                          <a:solidFill>
                            <a:srgbClr val="94A3B8"/>
                          </a:solidFill>
                          <a:latin typeface="Segoe UI"/>
                        </a:defRPr>
                      </a:pPr>
                      <a:r>
                        <a:t>❌ سحابتهم فقط</a:t>
                      </a:r>
                    </a:p>
                  </a:txBody>
                  <a:tcPr>
                    <a:solidFill>
                      <a:srgbClr val="0E1424"/>
                    </a:solidFill>
                  </a:tcPr>
                </a:tc>
                <a:tc>
                  <a:txBody>
                    <a:bodyPr/>
                    <a:lstStyle/>
                    <a:p>
                      <a:pPr algn="ctr">
                        <a:defRPr sz="1000">
                          <a:solidFill>
                            <a:srgbClr val="94A3B8"/>
                          </a:solidFill>
                          <a:latin typeface="Segoe UI"/>
                        </a:defRPr>
                      </a:pPr>
                      <a:r>
                        <a:t>❌ سحابتهم فقط</a:t>
                      </a:r>
                    </a:p>
                  </a:txBody>
                  <a:tcPr>
                    <a:solidFill>
                      <a:srgbClr val="0E1424"/>
                    </a:solidFill>
                  </a:tcPr>
                </a:tc>
              </a:tr>
              <a:tr h="571500">
                <a:tc>
                  <a:txBody>
                    <a:bodyPr/>
                    <a:lstStyle/>
                    <a:p>
                      <a:pPr algn="r">
                        <a:defRPr sz="1000">
                          <a:solidFill>
                            <a:srgbClr val="F8FAFC"/>
                          </a:solidFill>
                          <a:latin typeface="Segoe UI"/>
                        </a:defRPr>
                      </a:pPr>
                      <a:r>
                        <a:t>النقل المباشر بين السحابات (Cloud-to-Cloud)</a:t>
                      </a:r>
                    </a:p>
                  </a:txBody>
                  <a:tcPr>
                    <a:solidFill>
                      <a:srgbClr val="0A0F1C"/>
                    </a:solidFill>
                  </a:tcPr>
                </a:tc>
                <a:tc>
                  <a:txBody>
                    <a:bodyPr/>
                    <a:lstStyle/>
                    <a:p>
                      <a:pPr algn="ctr">
                        <a:defRPr sz="1000" b="1">
                          <a:solidFill>
                            <a:srgbClr val="10B981"/>
                          </a:solidFill>
                          <a:latin typeface="Segoe UI"/>
                        </a:defRPr>
                      </a:pPr>
                      <a:r>
                        <a:t>✅ نعم (Zero Disk)</a:t>
                      </a:r>
                    </a:p>
                  </a:txBody>
                  <a:tcPr>
                    <a:solidFill>
                      <a:srgbClr val="12203C"/>
                    </a:solidFill>
                  </a:tcPr>
                </a:tc>
                <a:tc>
                  <a:txBody>
                    <a:bodyPr/>
                    <a:lstStyle/>
                    <a:p>
                      <a:pPr algn="ctr">
                        <a:defRPr sz="1000">
                          <a:solidFill>
                            <a:srgbClr val="94A3B8"/>
                          </a:solidFill>
                          <a:latin typeface="Segoe UI"/>
                        </a:defRPr>
                      </a:pPr>
                      <a:r>
                        <a:t>❌ غير مدعوم</a:t>
                      </a:r>
                    </a:p>
                  </a:txBody>
                  <a:tcPr>
                    <a:solidFill>
                      <a:srgbClr val="0A0F1C"/>
                    </a:solidFill>
                  </a:tcPr>
                </a:tc>
                <a:tc>
                  <a:txBody>
                    <a:bodyPr/>
                    <a:lstStyle/>
                    <a:p>
                      <a:pPr algn="ctr">
                        <a:defRPr sz="1000">
                          <a:solidFill>
                            <a:srgbClr val="94A3B8"/>
                          </a:solidFill>
                          <a:latin typeface="Segoe UI"/>
                        </a:defRPr>
                      </a:pPr>
                      <a:r>
                        <a:t>❌ غير مدعوم</a:t>
                      </a:r>
                    </a:p>
                  </a:txBody>
                  <a:tcPr>
                    <a:solidFill>
                      <a:srgbClr val="0A0F1C"/>
                    </a:solidFill>
                  </a:tcPr>
                </a:tc>
                <a:tc>
                  <a:txBody>
                    <a:bodyPr/>
                    <a:lstStyle/>
                    <a:p>
                      <a:pPr algn="ctr">
                        <a:defRPr sz="1000">
                          <a:solidFill>
                            <a:srgbClr val="94A3B8"/>
                          </a:solidFill>
                          <a:latin typeface="Segoe UI"/>
                        </a:defRPr>
                      </a:pPr>
                      <a:r>
                        <a:t>❌ غير مدعوم</a:t>
                      </a:r>
                    </a:p>
                  </a:txBody>
                  <a:tcPr>
                    <a:solidFill>
                      <a:srgbClr val="0A0F1C"/>
                    </a:solidFill>
                  </a:tcPr>
                </a:tc>
                <a:tc>
                  <a:txBody>
                    <a:bodyPr/>
                    <a:lstStyle/>
                    <a:p>
                      <a:pPr algn="ctr">
                        <a:defRPr sz="1000">
                          <a:solidFill>
                            <a:srgbClr val="94A3B8"/>
                          </a:solidFill>
                          <a:latin typeface="Segoe UI"/>
                        </a:defRPr>
                      </a:pPr>
                      <a:r>
                        <a:t>❌ غير مدعوم</a:t>
                      </a:r>
                    </a:p>
                  </a:txBody>
                  <a:tcPr>
                    <a:solidFill>
                      <a:srgbClr val="0A0F1C"/>
                    </a:solidFill>
                  </a:tcPr>
                </a:tc>
              </a:tr>
              <a:tr h="571500">
                <a:tc>
                  <a:txBody>
                    <a:bodyPr/>
                    <a:lstStyle/>
                    <a:p>
                      <a:pPr algn="r">
                        <a:defRPr sz="1000">
                          <a:solidFill>
                            <a:srgbClr val="F8FAFC"/>
                          </a:solidFill>
                          <a:latin typeface="Segoe UI"/>
                        </a:defRPr>
                      </a:pPr>
                      <a:r>
                        <a:t>قفل المتصفحات برمز PIN وحماية قفل ويندوز Win+L</a:t>
                      </a:r>
                    </a:p>
                  </a:txBody>
                  <a:tcPr>
                    <a:solidFill>
                      <a:srgbClr val="0E1424"/>
                    </a:solidFill>
                  </a:tcPr>
                </a:tc>
                <a:tc>
                  <a:txBody>
                    <a:bodyPr/>
                    <a:lstStyle/>
                    <a:p>
                      <a:pPr algn="ctr">
                        <a:defRPr sz="1000" b="1">
                          <a:solidFill>
                            <a:srgbClr val="10B981"/>
                          </a:solidFill>
                          <a:latin typeface="Segoe UI"/>
                        </a:defRPr>
                      </a:pPr>
                      <a:r>
                        <a:t>✅ نعم حصرياً</a:t>
                      </a:r>
                    </a:p>
                  </a:txBody>
                  <a:tcPr>
                    <a:solidFill>
                      <a:srgbClr val="12203C"/>
                    </a:solidFill>
                  </a:tcPr>
                </a:tc>
                <a:tc>
                  <a:txBody>
                    <a:bodyPr/>
                    <a:lstStyle/>
                    <a:p>
                      <a:pPr algn="ctr">
                        <a:defRPr sz="1000">
                          <a:solidFill>
                            <a:srgbClr val="94A3B8"/>
                          </a:solidFill>
                          <a:latin typeface="Segoe UI"/>
                        </a:defRPr>
                      </a:pPr>
                      <a:r>
                        <a:t>❌ غير متوفر</a:t>
                      </a:r>
                    </a:p>
                  </a:txBody>
                  <a:tcPr>
                    <a:solidFill>
                      <a:srgbClr val="0E1424"/>
                    </a:solidFill>
                  </a:tcPr>
                </a:tc>
                <a:tc>
                  <a:txBody>
                    <a:bodyPr/>
                    <a:lstStyle/>
                    <a:p>
                      <a:pPr algn="ctr">
                        <a:defRPr sz="1000">
                          <a:solidFill>
                            <a:srgbClr val="94A3B8"/>
                          </a:solidFill>
                          <a:latin typeface="Segoe UI"/>
                        </a:defRPr>
                      </a:pPr>
                      <a:r>
                        <a:t>❌ غير متوفر</a:t>
                      </a:r>
                    </a:p>
                  </a:txBody>
                  <a:tcPr>
                    <a:solidFill>
                      <a:srgbClr val="0E1424"/>
                    </a:solidFill>
                  </a:tcPr>
                </a:tc>
                <a:tc>
                  <a:txBody>
                    <a:bodyPr/>
                    <a:lstStyle/>
                    <a:p>
                      <a:pPr algn="ctr">
                        <a:defRPr sz="1000">
                          <a:solidFill>
                            <a:srgbClr val="94A3B8"/>
                          </a:solidFill>
                          <a:latin typeface="Segoe UI"/>
                        </a:defRPr>
                      </a:pPr>
                      <a:r>
                        <a:t>❌ غير متوفر</a:t>
                      </a:r>
                    </a:p>
                  </a:txBody>
                  <a:tcPr>
                    <a:solidFill>
                      <a:srgbClr val="0E1424"/>
                    </a:solidFill>
                  </a:tcPr>
                </a:tc>
                <a:tc>
                  <a:txBody>
                    <a:bodyPr/>
                    <a:lstStyle/>
                    <a:p>
                      <a:pPr algn="ctr">
                        <a:defRPr sz="1000">
                          <a:solidFill>
                            <a:srgbClr val="94A3B8"/>
                          </a:solidFill>
                          <a:latin typeface="Segoe UI"/>
                        </a:defRPr>
                      </a:pPr>
                      <a:r>
                        <a:t>❌ غير متوفر</a:t>
                      </a:r>
                    </a:p>
                  </a:txBody>
                  <a:tcPr>
                    <a:solidFill>
                      <a:srgbClr val="0E1424"/>
                    </a:solidFill>
                  </a:tcPr>
                </a:tc>
              </a:tr>
              <a:tr h="571500">
                <a:tc>
                  <a:txBody>
                    <a:bodyPr/>
                    <a:lstStyle/>
                    <a:p>
                      <a:pPr algn="r">
                        <a:defRPr sz="1000">
                          <a:solidFill>
                            <a:srgbClr val="F8FAFC"/>
                          </a:solidFill>
                          <a:latin typeface="Segoe UI"/>
                        </a:defRPr>
                      </a:pPr>
                      <a:r>
                        <a:t>استعادة الجهاز بالكامل بعد الفورمات بنقرة واحدة</a:t>
                      </a:r>
                    </a:p>
                  </a:txBody>
                  <a:tcPr>
                    <a:solidFill>
                      <a:srgbClr val="0A0F1C"/>
                    </a:solidFill>
                  </a:tcPr>
                </a:tc>
                <a:tc>
                  <a:txBody>
                    <a:bodyPr/>
                    <a:lstStyle/>
                    <a:p>
                      <a:pPr algn="ctr">
                        <a:defRPr sz="1000" b="1">
                          <a:solidFill>
                            <a:srgbClr val="10B981"/>
                          </a:solidFill>
                          <a:latin typeface="Segoe UI"/>
                        </a:defRPr>
                      </a:pPr>
                      <a:r>
                        <a:t>✅ نعم (Manifest)</a:t>
                      </a:r>
                    </a:p>
                  </a:txBody>
                  <a:tcPr>
                    <a:solidFill>
                      <a:srgbClr val="12203C"/>
                    </a:solidFill>
                  </a:tcPr>
                </a:tc>
                <a:tc>
                  <a:txBody>
                    <a:bodyPr/>
                    <a:lstStyle/>
                    <a:p>
                      <a:pPr algn="ctr">
                        <a:defRPr sz="1000">
                          <a:solidFill>
                            <a:srgbClr val="94A3B8"/>
                          </a:solidFill>
                          <a:latin typeface="Segoe UI"/>
                        </a:defRPr>
                      </a:pPr>
                      <a:r>
                        <a:t>❌ تنزيل يدوي</a:t>
                      </a:r>
                    </a:p>
                  </a:txBody>
                  <a:tcPr>
                    <a:solidFill>
                      <a:srgbClr val="0A0F1C"/>
                    </a:solidFill>
                  </a:tcPr>
                </a:tc>
                <a:tc>
                  <a:txBody>
                    <a:bodyPr/>
                    <a:lstStyle/>
                    <a:p>
                      <a:pPr algn="ctr">
                        <a:defRPr sz="1000">
                          <a:solidFill>
                            <a:srgbClr val="94A3B8"/>
                          </a:solidFill>
                          <a:latin typeface="Segoe UI"/>
                        </a:defRPr>
                      </a:pPr>
                      <a:r>
                        <a:t>❌ تنزيل يدوي</a:t>
                      </a:r>
                    </a:p>
                  </a:txBody>
                  <a:tcPr>
                    <a:solidFill>
                      <a:srgbClr val="0A0F1C"/>
                    </a:solidFill>
                  </a:tcPr>
                </a:tc>
                <a:tc>
                  <a:txBody>
                    <a:bodyPr/>
                    <a:lstStyle/>
                    <a:p>
                      <a:pPr algn="ctr">
                        <a:defRPr sz="1000">
                          <a:solidFill>
                            <a:srgbClr val="94A3B8"/>
                          </a:solidFill>
                          <a:latin typeface="Segoe UI"/>
                        </a:defRPr>
                      </a:pPr>
                      <a:r>
                        <a:t>❌ تنزيل يدوي</a:t>
                      </a:r>
                    </a:p>
                  </a:txBody>
                  <a:tcPr>
                    <a:solidFill>
                      <a:srgbClr val="0A0F1C"/>
                    </a:solidFill>
                  </a:tcPr>
                </a:tc>
                <a:tc>
                  <a:txBody>
                    <a:bodyPr/>
                    <a:lstStyle/>
                    <a:p>
                      <a:pPr algn="ctr">
                        <a:defRPr sz="1000">
                          <a:solidFill>
                            <a:srgbClr val="94A3B8"/>
                          </a:solidFill>
                          <a:latin typeface="Segoe UI"/>
                        </a:defRPr>
                      </a:pPr>
                      <a:r>
                        <a:t>❌ تنزيل يدوي</a:t>
                      </a:r>
                    </a:p>
                  </a:txBody>
                  <a:tcPr>
                    <a:solidFill>
                      <a:srgbClr val="0A0F1C"/>
                    </a:solidFill>
                  </a:tcPr>
                </a:tc>
              </a:tr>
              <a:tr h="571500">
                <a:tc>
                  <a:txBody>
                    <a:bodyPr/>
                    <a:lstStyle/>
                    <a:p>
                      <a:pPr algn="r">
                        <a:defRPr sz="1000">
                          <a:solidFill>
                            <a:srgbClr val="F8FAFC"/>
                          </a:solidFill>
                          <a:latin typeface="Segoe UI"/>
                        </a:defRPr>
                      </a:pPr>
                      <a:r>
                        <a:t>تشفير الحاويات العسكري AES-256 محلياً قبل الرفع</a:t>
                      </a:r>
                    </a:p>
                  </a:txBody>
                  <a:tcPr>
                    <a:solidFill>
                      <a:srgbClr val="0E1424"/>
                    </a:solidFill>
                  </a:tcPr>
                </a:tc>
                <a:tc>
                  <a:txBody>
                    <a:bodyPr/>
                    <a:lstStyle/>
                    <a:p>
                      <a:pPr algn="ctr">
                        <a:defRPr sz="1000" b="1">
                          <a:solidFill>
                            <a:srgbClr val="10B981"/>
                          </a:solidFill>
                          <a:latin typeface="Segoe UI"/>
                        </a:defRPr>
                      </a:pPr>
                      <a:r>
                        <a:t>✅ نعم مدمج مجاناً</a:t>
                      </a:r>
                    </a:p>
                  </a:txBody>
                  <a:tcPr>
                    <a:solidFill>
                      <a:srgbClr val="12203C"/>
                    </a:solidFill>
                  </a:tcPr>
                </a:tc>
                <a:tc>
                  <a:txBody>
                    <a:bodyPr/>
                    <a:lstStyle/>
                    <a:p>
                      <a:pPr algn="ctr">
                        <a:defRPr sz="1000">
                          <a:solidFill>
                            <a:srgbClr val="94A3B8"/>
                          </a:solidFill>
                          <a:latin typeface="Segoe UI"/>
                        </a:defRPr>
                      </a:pPr>
                      <a:r>
                        <a:t>❌ لا يوجد تشفير محلي</a:t>
                      </a:r>
                    </a:p>
                  </a:txBody>
                  <a:tcPr>
                    <a:solidFill>
                      <a:srgbClr val="0E1424"/>
                    </a:solidFill>
                  </a:tcPr>
                </a:tc>
                <a:tc>
                  <a:txBody>
                    <a:bodyPr/>
                    <a:lstStyle/>
                    <a:p>
                      <a:pPr algn="ctr">
                        <a:defRPr sz="1000">
                          <a:solidFill>
                            <a:srgbClr val="94A3B8"/>
                          </a:solidFill>
                          <a:latin typeface="Segoe UI"/>
                        </a:defRPr>
                      </a:pPr>
                      <a:r>
                        <a:t>❌ قبو محدود 3 ملفات</a:t>
                      </a:r>
                    </a:p>
                  </a:txBody>
                  <a:tcPr>
                    <a:solidFill>
                      <a:srgbClr val="0E1424"/>
                    </a:solidFill>
                  </a:tcPr>
                </a:tc>
                <a:tc>
                  <a:txBody>
                    <a:bodyPr/>
                    <a:lstStyle/>
                    <a:p>
                      <a:pPr algn="ctr">
                        <a:defRPr sz="1000">
                          <a:solidFill>
                            <a:srgbClr val="94A3B8"/>
                          </a:solidFill>
                          <a:latin typeface="Segoe UI"/>
                        </a:defRPr>
                      </a:pPr>
                      <a:r>
                        <a:t>❌ غير متاح</a:t>
                      </a:r>
                    </a:p>
                  </a:txBody>
                  <a:tcPr>
                    <a:solidFill>
                      <a:srgbClr val="0E1424"/>
                    </a:solidFill>
                  </a:tcPr>
                </a:tc>
                <a:tc>
                  <a:txBody>
                    <a:bodyPr/>
                    <a:lstStyle/>
                    <a:p>
                      <a:pPr algn="ctr">
                        <a:defRPr sz="1000">
                          <a:solidFill>
                            <a:srgbClr val="F8FAFC"/>
                          </a:solidFill>
                          <a:latin typeface="Segoe UI"/>
                        </a:defRPr>
                      </a:pPr>
                      <a:r>
                        <a:t>✅ تشفير خاص</a:t>
                      </a:r>
                    </a:p>
                  </a:txBody>
                  <a:tcPr>
                    <a:solidFill>
                      <a:srgbClr val="0E1424"/>
                    </a:solidFill>
                  </a:tcPr>
                </a:tc>
              </a:tr>
              <a:tr h="571500">
                <a:tc>
                  <a:txBody>
                    <a:bodyPr/>
                    <a:lstStyle/>
                    <a:p>
                      <a:pPr algn="r">
                        <a:defRPr sz="1000">
                          <a:solidFill>
                            <a:srgbClr val="F8FAFC"/>
                          </a:solidFill>
                          <a:latin typeface="Segoe UI"/>
                        </a:defRPr>
                      </a:pPr>
                      <a:r>
                        <a:t>استهلاك الذاكرة في الخلفية وضع الخمول</a:t>
                      </a:r>
                    </a:p>
                  </a:txBody>
                  <a:tcPr>
                    <a:solidFill>
                      <a:srgbClr val="0A0F1C"/>
                    </a:solidFill>
                  </a:tcPr>
                </a:tc>
                <a:tc>
                  <a:txBody>
                    <a:bodyPr/>
                    <a:lstStyle/>
                    <a:p>
                      <a:pPr algn="ctr">
                        <a:defRPr sz="1000" b="1">
                          <a:solidFill>
                            <a:srgbClr val="10B981"/>
                          </a:solidFill>
                          <a:latin typeface="Segoe UI"/>
                        </a:defRPr>
                      </a:pPr>
                      <a:r>
                        <a:t>⚡ خفيف (&lt; 65MB)</a:t>
                      </a:r>
                    </a:p>
                  </a:txBody>
                  <a:tcPr>
                    <a:solidFill>
                      <a:srgbClr val="12203C"/>
                    </a:solidFill>
                  </a:tcPr>
                </a:tc>
                <a:tc>
                  <a:txBody>
                    <a:bodyPr/>
                    <a:lstStyle/>
                    <a:p>
                      <a:pPr algn="ctr">
                        <a:defRPr sz="1000">
                          <a:solidFill>
                            <a:srgbClr val="94A3B8"/>
                          </a:solidFill>
                          <a:latin typeface="Segoe UI"/>
                        </a:defRPr>
                      </a:pPr>
                      <a:r>
                        <a:t>⚠️ ثقيل (250MB+)</a:t>
                      </a:r>
                    </a:p>
                  </a:txBody>
                  <a:tcPr>
                    <a:solidFill>
                      <a:srgbClr val="0A0F1C"/>
                    </a:solidFill>
                  </a:tcPr>
                </a:tc>
                <a:tc>
                  <a:txBody>
                    <a:bodyPr/>
                    <a:lstStyle/>
                    <a:p>
                      <a:pPr algn="ctr">
                        <a:defRPr sz="1000">
                          <a:solidFill>
                            <a:srgbClr val="94A3B8"/>
                          </a:solidFill>
                          <a:latin typeface="Segoe UI"/>
                        </a:defRPr>
                      </a:pPr>
                      <a:r>
                        <a:t>⚠️ ثقيل (200MB+)</a:t>
                      </a:r>
                    </a:p>
                  </a:txBody>
                  <a:tcPr>
                    <a:solidFill>
                      <a:srgbClr val="0A0F1C"/>
                    </a:solidFill>
                  </a:tcPr>
                </a:tc>
                <a:tc>
                  <a:txBody>
                    <a:bodyPr/>
                    <a:lstStyle/>
                    <a:p>
                      <a:pPr algn="ctr">
                        <a:defRPr sz="1000">
                          <a:solidFill>
                            <a:srgbClr val="94A3B8"/>
                          </a:solidFill>
                          <a:latin typeface="Segoe UI"/>
                        </a:defRPr>
                      </a:pPr>
                      <a:r>
                        <a:t>⚠️ ثقيل (300MB+)</a:t>
                      </a:r>
                    </a:p>
                  </a:txBody>
                  <a:tcPr>
                    <a:solidFill>
                      <a:srgbClr val="0A0F1C"/>
                    </a:solidFill>
                  </a:tcPr>
                </a:tc>
                <a:tc>
                  <a:txBody>
                    <a:bodyPr/>
                    <a:lstStyle/>
                    <a:p>
                      <a:pPr algn="ctr">
                        <a:defRPr sz="1000">
                          <a:solidFill>
                            <a:srgbClr val="94A3B8"/>
                          </a:solidFill>
                          <a:latin typeface="Segoe UI"/>
                        </a:defRPr>
                      </a:pPr>
                      <a:r>
                        <a:t>⚠️ متوسط (150MB+)</a:t>
                      </a:r>
                    </a:p>
                  </a:txBody>
                  <a:tcPr>
                    <a:solidFill>
                      <a:srgbClr val="0A0F1C"/>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DEVOPS &amp; ENTERPRISE QUALITY ASSURANCE</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هندسة الجودة، الـ CI/CD، ومسارات الإصدار المستقلة</a:t>
            </a:r>
          </a:p>
          <a:p>
            <a:pPr algn="r">
              <a:spcBef>
                <a:spcPts val="300"/>
              </a:spcBef>
              <a:defRPr sz="1150">
                <a:solidFill>
                  <a:srgbClr val="94A3B8"/>
                </a:solidFill>
                <a:latin typeface="Segoe UI"/>
              </a:defRPr>
            </a:pPr>
            <a:r>
              <a:t>بنية برمجية صارمة تضمن استقرار التحديثات بنسبة خطأ 0% واختبارات مؤتمتة شاملة</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5212080" cy="21945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مسارات الإصدار المستقلة (Independent Dual Pipelines)</a:t>
            </a:r>
          </a:p>
          <a:p>
            <a:pPr algn="r">
              <a:spcBef>
                <a:spcPts val="200"/>
              </a:spcBef>
              <a:defRPr sz="900" b="1">
                <a:solidFill>
                  <a:srgbClr val="06B6D4"/>
                </a:solidFill>
                <a:latin typeface="Segoe UI"/>
              </a:defRPr>
            </a:pPr>
            <a:r>
              <a:t>[Continuous Delivery]</a:t>
            </a:r>
          </a:p>
          <a:p>
            <a:pPr algn="r">
              <a:spcBef>
                <a:spcPts val="300"/>
              </a:spcBef>
              <a:spcAft>
                <a:spcPts val="100"/>
              </a:spcAft>
              <a:defRPr sz="1000">
                <a:solidFill>
                  <a:srgbClr val="94A3B8"/>
                </a:solidFill>
                <a:latin typeface="Segoe UI"/>
              </a:defRPr>
            </a:pPr>
            <a:r>
              <a:t>• قاعدة هندسية صارمة: تعديلات الهاتف لا تبني الحاسوب، وتعديلات الحاسوب لا تبني حزم الأندرويد.</a:t>
            </a:r>
          </a:p>
          <a:p>
            <a:pPr algn="r">
              <a:spcBef>
                <a:spcPts val="300"/>
              </a:spcBef>
              <a:spcAft>
                <a:spcPts val="100"/>
              </a:spcAft>
              <a:defRPr sz="1000">
                <a:solidFill>
                  <a:srgbClr val="94A3B8"/>
                </a:solidFill>
                <a:latin typeface="Segoe UI"/>
              </a:defRPr>
            </a:pPr>
            <a:r>
              <a:t>• مسار الهاتف (Track A): تحديث إصدار الهاتف، فحص الجودة، بناء وتوقيع AuraSync.apk، ورفعه تلقائياً لجيت هب.</a:t>
            </a:r>
          </a:p>
          <a:p>
            <a:pPr algn="r">
              <a:spcBef>
                <a:spcPts val="300"/>
              </a:spcBef>
              <a:spcAft>
                <a:spcPts val="100"/>
              </a:spcAft>
              <a:defRPr sz="1000">
                <a:solidFill>
                  <a:srgbClr val="94A3B8"/>
                </a:solidFill>
                <a:latin typeface="Segoe UI"/>
              </a:defRPr>
            </a:pPr>
            <a:r>
              <a:t>• مسار الحاسوب (Track B): فحص 100% للاختبارات، بناء Setup.exe و Portable.exe، والنشر التلقائي للريليز.</a:t>
            </a:r>
          </a:p>
          <a:p>
            <a:pPr algn="r">
              <a:spcBef>
                <a:spcPts val="300"/>
              </a:spcBef>
              <a:spcAft>
                <a:spcPts val="100"/>
              </a:spcAft>
              <a:defRPr sz="1000">
                <a:solidFill>
                  <a:srgbClr val="94A3B8"/>
                </a:solidFill>
                <a:latin typeface="Segoe UI"/>
              </a:defRPr>
            </a:pPr>
            <a:r>
              <a:t>• توفير هائل في استهلاك المعالج وتوفير مساحة التخزين وسرعة التسليم في ثوانٍ.</a:t>
            </a:r>
          </a:p>
        </p:txBody>
      </p:sp>
      <p:sp>
        <p:nvSpPr>
          <p:cNvPr id="7" name="Rounded Rectangle 6"/>
          <p:cNvSpPr/>
          <p:nvPr/>
        </p:nvSpPr>
        <p:spPr>
          <a:xfrm>
            <a:off x="6217920" y="1645920"/>
            <a:ext cx="5212080" cy="2194560"/>
          </a:xfrm>
          <a:prstGeom prst="roundRect">
            <a:avLst/>
          </a:prstGeom>
          <a:solidFill>
            <a:srgbClr val="0D15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10B981"/>
                </a:solidFill>
                <a:latin typeface="Segoe UI"/>
              </a:defRPr>
            </a:pPr>
            <a:r>
              <a:t>✅ جناح الاختبارات المؤتمت الشامل (382+ Tests)</a:t>
            </a:r>
          </a:p>
          <a:p>
            <a:pPr algn="r">
              <a:spcBef>
                <a:spcPts val="200"/>
              </a:spcBef>
              <a:defRPr sz="900" b="1">
                <a:solidFill>
                  <a:srgbClr val="10B981"/>
                </a:solidFill>
                <a:latin typeface="Segoe UI"/>
              </a:defRPr>
            </a:pPr>
            <a:r>
              <a:t>[100% Test Pass Rate]</a:t>
            </a:r>
          </a:p>
          <a:p>
            <a:pPr algn="r">
              <a:spcBef>
                <a:spcPts val="300"/>
              </a:spcBef>
              <a:spcAft>
                <a:spcPts val="100"/>
              </a:spcAft>
              <a:defRPr sz="1000">
                <a:solidFill>
                  <a:srgbClr val="94A3B8"/>
                </a:solidFill>
                <a:latin typeface="Segoe UI"/>
              </a:defRPr>
            </a:pPr>
            <a:r>
              <a:t>• تنفيذ مئات الاختبارات الآلية (npm test &amp; npm run check) قبل كل عملية نشر.</a:t>
            </a:r>
          </a:p>
          <a:p>
            <a:pPr algn="r">
              <a:spcBef>
                <a:spcPts val="300"/>
              </a:spcBef>
              <a:spcAft>
                <a:spcPts val="100"/>
              </a:spcAft>
              <a:defRPr sz="1000">
                <a:solidFill>
                  <a:srgbClr val="94A3B8"/>
                </a:solidFill>
                <a:latin typeface="Segoe UI"/>
              </a:defRPr>
            </a:pPr>
            <a:r>
              <a:t>• فحص شامل لتكامل قواعد البيانات، مفاتيح التشفير، ومحركات Google Drive و OneDrive و Dropbox.</a:t>
            </a:r>
          </a:p>
          <a:p>
            <a:pPr algn="r">
              <a:spcBef>
                <a:spcPts val="300"/>
              </a:spcBef>
              <a:spcAft>
                <a:spcPts val="100"/>
              </a:spcAft>
              <a:defRPr sz="1000">
                <a:solidFill>
                  <a:srgbClr val="94A3B8"/>
                </a:solidFill>
                <a:latin typeface="Segoe UI"/>
              </a:defRPr>
            </a:pPr>
            <a:r>
              <a:t>• التدقيق الثلاثي قبل التنفيذ (Triple Code Review): فحص الحالات الشاذة، تنظيف الموارد، ومناعة الانتكاس.</a:t>
            </a:r>
          </a:p>
          <a:p>
            <a:pPr algn="r">
              <a:spcBef>
                <a:spcPts val="300"/>
              </a:spcBef>
              <a:spcAft>
                <a:spcPts val="100"/>
              </a:spcAft>
              <a:defRPr sz="1000">
                <a:solidFill>
                  <a:srgbClr val="94A3B8"/>
                </a:solidFill>
                <a:latin typeface="Segoe UI"/>
              </a:defRPr>
            </a:pPr>
            <a:r>
              <a:t>• تحقيق نسبة نجاح 100% دائماً وخلو تام من أي تحذيرات لينت أو تسريب ذاكرة.</a:t>
            </a:r>
          </a:p>
        </p:txBody>
      </p:sp>
      <p:sp>
        <p:nvSpPr>
          <p:cNvPr id="8" name="Rounded Rectangle 7"/>
          <p:cNvSpPr/>
          <p:nvPr/>
        </p:nvSpPr>
        <p:spPr>
          <a:xfrm>
            <a:off x="731520" y="4023360"/>
            <a:ext cx="5212080" cy="2194560"/>
          </a:xfrm>
          <a:prstGeom prst="roundRect">
            <a:avLst/>
          </a:prstGeom>
          <a:solidFill>
            <a:srgbClr val="0D15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F59E0B"/>
                </a:solidFill>
                <a:latin typeface="Segoe UI"/>
              </a:defRPr>
            </a:pPr>
            <a:r>
              <a:t>🔄 المُحدّث التلقائي الصامت بنقرة واحدة (Auto-Updater)</a:t>
            </a:r>
          </a:p>
          <a:p>
            <a:pPr algn="r">
              <a:spcBef>
                <a:spcPts val="200"/>
              </a:spcBef>
              <a:defRPr sz="900" b="1">
                <a:solidFill>
                  <a:srgbClr val="F59E0B"/>
                </a:solidFill>
                <a:latin typeface="Segoe UI"/>
              </a:defRPr>
            </a:pPr>
            <a:r>
              <a:t>[1-Click Silent Update]</a:t>
            </a:r>
          </a:p>
          <a:p>
            <a:pPr algn="r">
              <a:spcBef>
                <a:spcPts val="300"/>
              </a:spcBef>
              <a:spcAft>
                <a:spcPts val="100"/>
              </a:spcAft>
              <a:defRPr sz="1000">
                <a:solidFill>
                  <a:srgbClr val="94A3B8"/>
                </a:solidFill>
                <a:latin typeface="Segoe UI"/>
              </a:defRPr>
            </a:pPr>
            <a:r>
              <a:t>• فحص ذكي كل 3 دقائق وعند استعادة نافذة التطبيق لأي إصدار جديد على GitHub.</a:t>
            </a:r>
          </a:p>
          <a:p>
            <a:pPr algn="r">
              <a:spcBef>
                <a:spcPts val="300"/>
              </a:spcBef>
              <a:spcAft>
                <a:spcPts val="100"/>
              </a:spcAft>
              <a:defRPr sz="1000">
                <a:solidFill>
                  <a:srgbClr val="94A3B8"/>
                </a:solidFill>
                <a:latin typeface="Segoe UI"/>
              </a:defRPr>
            </a:pPr>
            <a:r>
              <a:t>• تجاوز قيود الـ API (Zero-Rate-Limit): دعم التحويل 302 وسيرفرات CDN السريعة.</a:t>
            </a:r>
          </a:p>
          <a:p>
            <a:pPr algn="r">
              <a:spcBef>
                <a:spcPts val="300"/>
              </a:spcBef>
              <a:spcAft>
                <a:spcPts val="100"/>
              </a:spcAft>
              <a:defRPr sz="1000">
                <a:solidFill>
                  <a:srgbClr val="94A3B8"/>
                </a:solidFill>
                <a:latin typeface="Segoe UI"/>
              </a:defRPr>
            </a:pPr>
            <a:r>
              <a:t>• تحديث ذكي فوري بالدلتا: تنزيل وتطبيق التحديث وإعادة تشغيل التطبيق في أقل من ثانية واحدة.</a:t>
            </a:r>
          </a:p>
          <a:p>
            <a:pPr algn="r">
              <a:spcBef>
                <a:spcPts val="300"/>
              </a:spcBef>
              <a:spcAft>
                <a:spcPts val="100"/>
              </a:spcAft>
              <a:defRPr sz="1000">
                <a:solidFill>
                  <a:srgbClr val="94A3B8"/>
                </a:solidFill>
                <a:latin typeface="Segoe UI"/>
              </a:defRPr>
            </a:pPr>
            <a:r>
              <a:t>• شارة تنبيه ذهبية هادئة وحصرية في شريط الإعدادات لتفادي تشتيت المستخدم أثناء العمل.</a:t>
            </a:r>
          </a:p>
        </p:txBody>
      </p:sp>
      <p:sp>
        <p:nvSpPr>
          <p:cNvPr id="9" name="Rounded Rectangle 8"/>
          <p:cNvSpPr/>
          <p:nvPr/>
        </p:nvSpPr>
        <p:spPr>
          <a:xfrm>
            <a:off x="6217920" y="4023360"/>
            <a:ext cx="5212080" cy="219456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A855F7"/>
                </a:solidFill>
                <a:latin typeface="Segoe UI"/>
              </a:defRPr>
            </a:pPr>
            <a:r>
              <a:t>📦 أرشفة الإصدارات الدائمة والتحكم بالنسخ</a:t>
            </a:r>
          </a:p>
          <a:p>
            <a:pPr algn="r">
              <a:spcBef>
                <a:spcPts val="200"/>
              </a:spcBef>
              <a:defRPr sz="900" b="1">
                <a:solidFill>
                  <a:srgbClr val="A855F7"/>
                </a:solidFill>
                <a:latin typeface="Segoe UI"/>
              </a:defRPr>
            </a:pPr>
            <a:r>
              <a:t>[Artifacts Management]</a:t>
            </a:r>
          </a:p>
          <a:p>
            <a:pPr algn="r">
              <a:spcBef>
                <a:spcPts val="300"/>
              </a:spcBef>
              <a:spcAft>
                <a:spcPts val="100"/>
              </a:spcAft>
              <a:defRPr sz="1000">
                <a:solidFill>
                  <a:srgbClr val="94A3B8"/>
                </a:solidFill>
                <a:latin typeface="Segoe UI"/>
              </a:defRPr>
            </a:pPr>
            <a:r>
              <a:t>• نظام أرشفة دائم يحفظ كل مثبت تنفيذي مستقل (v1.7.68 ... v1.7.97) بأمان.</a:t>
            </a:r>
          </a:p>
          <a:p>
            <a:pPr algn="r">
              <a:spcBef>
                <a:spcPts val="300"/>
              </a:spcBef>
              <a:spcAft>
                <a:spcPts val="100"/>
              </a:spcAft>
              <a:defRPr sz="1000">
                <a:solidFill>
                  <a:srgbClr val="94A3B8"/>
                </a:solidFill>
                <a:latin typeface="Segoe UI"/>
              </a:defRPr>
            </a:pPr>
            <a:r>
              <a:t>• حفظ مساحة القرص المحلي بحذف الملفات المؤقتة ورفع النسخ الموثقة إلى GitHub Releases.</a:t>
            </a:r>
          </a:p>
          <a:p>
            <a:pPr algn="r">
              <a:spcBef>
                <a:spcPts val="300"/>
              </a:spcBef>
              <a:spcAft>
                <a:spcPts val="100"/>
              </a:spcAft>
              <a:defRPr sz="1000">
                <a:solidFill>
                  <a:srgbClr val="94A3B8"/>
                </a:solidFill>
                <a:latin typeface="Segoe UI"/>
              </a:defRPr>
            </a:pPr>
            <a:r>
              <a:t>• إمكانية الرجوع لأي إصدار سابق بضغطة زر عند الحاجة لبيئات العمل المؤسسية القديمة.</a:t>
            </a:r>
          </a:p>
          <a:p>
            <a:pPr algn="r">
              <a:spcBef>
                <a:spcPts val="300"/>
              </a:spcBef>
              <a:spcAft>
                <a:spcPts val="100"/>
              </a:spcAft>
              <a:defRPr sz="1000">
                <a:solidFill>
                  <a:srgbClr val="94A3B8"/>
                </a:solidFill>
                <a:latin typeface="Segoe UI"/>
              </a:defRPr>
            </a:pPr>
            <a:r>
              <a:t>• حماية الملفات التجميعية من أخطاء المشاركة عبر إدارة حصرية لعمليات الإغلاق.</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FUTURE STRATEGIC ROADMAP</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المستقبل يبدأ الآن: خارطة طريق التوسع والتطوير</a:t>
            </a:r>
          </a:p>
          <a:p>
            <a:pPr algn="r">
              <a:spcBef>
                <a:spcPts val="300"/>
              </a:spcBef>
              <a:defRPr sz="1150">
                <a:solidFill>
                  <a:srgbClr val="94A3B8"/>
                </a:solidFill>
                <a:latin typeface="Segoe UI"/>
              </a:defRPr>
            </a:pPr>
            <a:r>
              <a:t>رؤية طموحة لنقل المنصة إلى آفاق التخزين اللامركزي، الذكاء الاصطناعي، ومزامنة الند-للند</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5212080" cy="2194560"/>
          </a:xfrm>
          <a:prstGeom prst="roundRect">
            <a:avLst/>
          </a:prstGeom>
          <a:solidFill>
            <a:srgbClr val="0D15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06B6D4"/>
                </a:solidFill>
                <a:latin typeface="Segoe UI"/>
              </a:defRPr>
            </a:pPr>
            <a:r>
              <a:t>📡 1. المزامنة المباشرة الند-للند (P2P Local LAN Sync)</a:t>
            </a:r>
          </a:p>
          <a:p>
            <a:pPr algn="r">
              <a:spcBef>
                <a:spcPts val="200"/>
              </a:spcBef>
              <a:defRPr sz="900" b="1">
                <a:solidFill>
                  <a:srgbClr val="06B6D4"/>
                </a:solidFill>
                <a:latin typeface="Segoe UI"/>
              </a:defRPr>
            </a:pPr>
            <a:r>
              <a:t>[المرحلة القادمة Q3]</a:t>
            </a:r>
          </a:p>
          <a:p>
            <a:pPr algn="r">
              <a:spcBef>
                <a:spcPts val="300"/>
              </a:spcBef>
              <a:spcAft>
                <a:spcPts val="100"/>
              </a:spcAft>
              <a:defRPr sz="1000">
                <a:solidFill>
                  <a:srgbClr val="94A3B8"/>
                </a:solidFill>
                <a:latin typeface="Segoe UI"/>
              </a:defRPr>
            </a:pPr>
            <a:r>
              <a:t>• مزامنة ونقل الملفات الضخمة بين أجهزة الكمبيوتر والهواتف على نفس شبكة الواي فاي المحلية.</a:t>
            </a:r>
          </a:p>
          <a:p>
            <a:pPr algn="r">
              <a:spcBef>
                <a:spcPts val="300"/>
              </a:spcBef>
              <a:spcAft>
                <a:spcPts val="100"/>
              </a:spcAft>
              <a:defRPr sz="1000">
                <a:solidFill>
                  <a:srgbClr val="94A3B8"/>
                </a:solidFill>
                <a:latin typeface="Segoe UI"/>
              </a:defRPr>
            </a:pPr>
            <a:r>
              <a:t>• سرعة نقل خارقة تتجاوز 100 ميجابايت/ثانية دون أن تمر الملفات عبر الإنترنت نهائياً.</a:t>
            </a:r>
          </a:p>
          <a:p>
            <a:pPr algn="r">
              <a:spcBef>
                <a:spcPts val="300"/>
              </a:spcBef>
              <a:spcAft>
                <a:spcPts val="100"/>
              </a:spcAft>
              <a:defRPr sz="1000">
                <a:solidFill>
                  <a:srgbClr val="94A3B8"/>
                </a:solidFill>
                <a:latin typeface="Segoe UI"/>
              </a:defRPr>
            </a:pPr>
            <a:r>
              <a:t>• حماية قصوى للبيانات الحساسة وتوفير كامل لباقة الإنترنت المنزلية والمكتبية.</a:t>
            </a:r>
          </a:p>
        </p:txBody>
      </p:sp>
      <p:sp>
        <p:nvSpPr>
          <p:cNvPr id="7" name="Rounded Rectangle 6"/>
          <p:cNvSpPr/>
          <p:nvPr/>
        </p:nvSpPr>
        <p:spPr>
          <a:xfrm>
            <a:off x="6217920" y="1645920"/>
            <a:ext cx="5212080" cy="2194560"/>
          </a:xfrm>
          <a:prstGeom prst="roundRect">
            <a:avLst/>
          </a:prstGeom>
          <a:solidFill>
            <a:srgbClr val="0D1527"/>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2563EB"/>
                </a:solidFill>
                <a:latin typeface="Segoe UI"/>
              </a:defRPr>
            </a:pPr>
            <a:r>
              <a:t>🍏 2. تطبيق الآيفون الأصلي (Native iOS Edition)</a:t>
            </a:r>
          </a:p>
          <a:p>
            <a:pPr algn="r">
              <a:spcBef>
                <a:spcPts val="200"/>
              </a:spcBef>
              <a:defRPr sz="900" b="1">
                <a:solidFill>
                  <a:srgbClr val="2563EB"/>
                </a:solidFill>
                <a:latin typeface="Segoe UI"/>
              </a:defRPr>
            </a:pPr>
            <a:r>
              <a:t>[توسع متعدد المنصات]</a:t>
            </a:r>
          </a:p>
          <a:p>
            <a:pPr algn="r">
              <a:spcBef>
                <a:spcPts val="300"/>
              </a:spcBef>
              <a:spcAft>
                <a:spcPts val="100"/>
              </a:spcAft>
              <a:defRPr sz="1000">
                <a:solidFill>
                  <a:srgbClr val="94A3B8"/>
                </a:solidFill>
                <a:latin typeface="Segoe UI"/>
              </a:defRPr>
            </a:pPr>
            <a:r>
              <a:t>• تطوير نسخة متوافقة بالكامل مع نظام iOS ومتاحة على متجر Apple App Store.</a:t>
            </a:r>
          </a:p>
          <a:p>
            <a:pPr algn="r">
              <a:spcBef>
                <a:spcPts val="300"/>
              </a:spcBef>
              <a:spcAft>
                <a:spcPts val="100"/>
              </a:spcAft>
              <a:defRPr sz="1000">
                <a:solidFill>
                  <a:srgbClr val="94A3B8"/>
                </a:solidFill>
                <a:latin typeface="Segoe UI"/>
              </a:defRPr>
            </a:pPr>
            <a:r>
              <a:t>• ربط مباشر مع مكتبة صور آبل (Apple Photos iCloud) ومحرك مشاركة iOS Share Sheet.</a:t>
            </a:r>
          </a:p>
          <a:p>
            <a:pPr algn="r">
              <a:spcBef>
                <a:spcPts val="300"/>
              </a:spcBef>
              <a:spcAft>
                <a:spcPts val="100"/>
              </a:spcAft>
              <a:defRPr sz="1000">
                <a:solidFill>
                  <a:srgbClr val="94A3B8"/>
                </a:solidFill>
                <a:latin typeface="Segoe UI"/>
              </a:defRPr>
            </a:pPr>
            <a:r>
              <a:t>• تكامل مع بصمة الوجه (Face ID) لتأمين الخزنة السحابية على أجهزة iPhone و iPad.</a:t>
            </a:r>
          </a:p>
        </p:txBody>
      </p:sp>
      <p:sp>
        <p:nvSpPr>
          <p:cNvPr id="8" name="Rounded Rectangle 7"/>
          <p:cNvSpPr/>
          <p:nvPr/>
        </p:nvSpPr>
        <p:spPr>
          <a:xfrm>
            <a:off x="731520" y="4023360"/>
            <a:ext cx="5212080" cy="2194560"/>
          </a:xfrm>
          <a:prstGeom prst="roundRect">
            <a:avLst/>
          </a:prstGeom>
          <a:solidFill>
            <a:srgbClr val="0D15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A855F7"/>
                </a:solidFill>
                <a:latin typeface="Segoe UI"/>
              </a:defRPr>
            </a:pPr>
            <a:r>
              <a:t>🤖 3. الذكاء الاصطناعي لتنظيم الصور (AI Smart Gallery)</a:t>
            </a:r>
          </a:p>
          <a:p>
            <a:pPr algn="r">
              <a:spcBef>
                <a:spcPts val="200"/>
              </a:spcBef>
              <a:defRPr sz="900" b="1">
                <a:solidFill>
                  <a:srgbClr val="A855F7"/>
                </a:solidFill>
                <a:latin typeface="Segoe UI"/>
              </a:defRPr>
            </a:pPr>
            <a:r>
              <a:t>[ذكاء محلي فائق الخصوصية]</a:t>
            </a:r>
          </a:p>
          <a:p>
            <a:pPr algn="r">
              <a:spcBef>
                <a:spcPts val="300"/>
              </a:spcBef>
              <a:spcAft>
                <a:spcPts val="100"/>
              </a:spcAft>
              <a:defRPr sz="1000">
                <a:solidFill>
                  <a:srgbClr val="94A3B8"/>
                </a:solidFill>
                <a:latin typeface="Segoe UI"/>
              </a:defRPr>
            </a:pPr>
            <a:r>
              <a:t>• خوارزميات ذكاء اصطناعي محلية (Local On-Device AI) للتعرف على محتوى الصور وفرزها تلقائياً.</a:t>
            </a:r>
          </a:p>
          <a:p>
            <a:pPr algn="r">
              <a:spcBef>
                <a:spcPts val="300"/>
              </a:spcBef>
              <a:spcAft>
                <a:spcPts val="100"/>
              </a:spcAft>
              <a:defRPr sz="1000">
                <a:solidFill>
                  <a:srgbClr val="94A3B8"/>
                </a:solidFill>
                <a:latin typeface="Segoe UI"/>
              </a:defRPr>
            </a:pPr>
            <a:r>
              <a:t>• البحث الذكي بالكلمات الدلالية: كتابة 'سيارة' أو 'مستند عقد' للعثور على الصورة فوراً.</a:t>
            </a:r>
          </a:p>
          <a:p>
            <a:pPr algn="r">
              <a:spcBef>
                <a:spcPts val="300"/>
              </a:spcBef>
              <a:spcAft>
                <a:spcPts val="100"/>
              </a:spcAft>
              <a:defRPr sz="1000">
                <a:solidFill>
                  <a:srgbClr val="94A3B8"/>
                </a:solidFill>
                <a:latin typeface="Segoe UI"/>
              </a:defRPr>
            </a:pPr>
            <a:r>
              <a:t>• الكشف الذكي التلقائي عن الصور المتطابقة والمشوشة واقتراح مسحها لتوفير المساحة.</a:t>
            </a:r>
          </a:p>
        </p:txBody>
      </p:sp>
      <p:sp>
        <p:nvSpPr>
          <p:cNvPr id="9" name="Rounded Rectangle 8"/>
          <p:cNvSpPr/>
          <p:nvPr/>
        </p:nvSpPr>
        <p:spPr>
          <a:xfrm>
            <a:off x="6217920" y="4023360"/>
            <a:ext cx="5212080" cy="2194560"/>
          </a:xfrm>
          <a:prstGeom prst="roundRect">
            <a:avLst/>
          </a:prstGeom>
          <a:solidFill>
            <a:srgbClr val="0D15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10B981"/>
                </a:solidFill>
                <a:latin typeface="Segoe UI"/>
              </a:defRPr>
            </a:pPr>
            <a:r>
              <a:t>🌐 4. التخزين اللامركزي والويب 3 (Web3 Decentralized)</a:t>
            </a:r>
          </a:p>
          <a:p>
            <a:pPr algn="r">
              <a:spcBef>
                <a:spcPts val="200"/>
              </a:spcBef>
              <a:defRPr sz="900" b="1">
                <a:solidFill>
                  <a:srgbClr val="10B981"/>
                </a:solidFill>
                <a:latin typeface="Segoe UI"/>
              </a:defRPr>
            </a:pPr>
            <a:r>
              <a:t>[أمان رقمي أبدي]</a:t>
            </a:r>
          </a:p>
          <a:p>
            <a:pPr algn="r">
              <a:spcBef>
                <a:spcPts val="300"/>
              </a:spcBef>
              <a:spcAft>
                <a:spcPts val="100"/>
              </a:spcAft>
              <a:defRPr sz="1000">
                <a:solidFill>
                  <a:srgbClr val="94A3B8"/>
                </a:solidFill>
                <a:latin typeface="Segoe UI"/>
              </a:defRPr>
            </a:pPr>
            <a:r>
              <a:t>• ربط شبكات التخزين اللامركزية العالمية (IPFS, Arweave, Filecoin) كخيارات تخزين إضافية.</a:t>
            </a:r>
          </a:p>
          <a:p>
            <a:pPr algn="r">
              <a:spcBef>
                <a:spcPts val="300"/>
              </a:spcBef>
              <a:spcAft>
                <a:spcPts val="100"/>
              </a:spcAft>
              <a:defRPr sz="1000">
                <a:solidFill>
                  <a:srgbClr val="94A3B8"/>
                </a:solidFill>
                <a:latin typeface="Segoe UI"/>
              </a:defRPr>
            </a:pPr>
            <a:r>
              <a:t>• حفظ البيانات المشفرة للأبد دون الاعتماد على خوادم أي شركة تجارية قد تقفل حسابك.</a:t>
            </a:r>
          </a:p>
          <a:p>
            <a:pPr algn="r">
              <a:spcBef>
                <a:spcPts val="300"/>
              </a:spcBef>
              <a:spcAft>
                <a:spcPts val="100"/>
              </a:spcAft>
              <a:defRPr sz="1000">
                <a:solidFill>
                  <a:srgbClr val="94A3B8"/>
                </a:solidFill>
                <a:latin typeface="Segoe UI"/>
              </a:defRPr>
            </a:pPr>
            <a:r>
              <a:t>• سيادة رقمية كاملة للمستخدم على بياناته وأسراره الرقمية.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solidFill>
              <a:srgbClr val="070A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320040"/>
          </a:xfrm>
          <a:prstGeom prst="roundRect">
            <a:avLst/>
          </a:prstGeom>
          <a:solidFill>
            <a:srgbClr val="0F1C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Segoe UI"/>
              </a:defRPr>
            </a:pPr>
            <a:r>
              <a:t>PROJECT SUMMARY &amp; DELIVERABLES</a:t>
            </a:r>
          </a:p>
        </p:txBody>
      </p:sp>
      <p:sp>
        <p:nvSpPr>
          <p:cNvPr id="4" name="TextBox 3"/>
          <p:cNvSpPr txBox="1"/>
          <p:nvPr/>
        </p:nvSpPr>
        <p:spPr>
          <a:xfrm>
            <a:off x="731520" y="731520"/>
            <a:ext cx="10728655" cy="685800"/>
          </a:xfrm>
          <a:prstGeom prst="rect">
            <a:avLst/>
          </a:prstGeom>
          <a:noFill/>
        </p:spPr>
        <p:txBody>
          <a:bodyPr wrap="square">
            <a:spAutoFit/>
          </a:bodyPr>
          <a:lstStyle/>
          <a:p>
            <a:pPr algn="r">
              <a:defRPr sz="2100" b="1">
                <a:solidFill>
                  <a:srgbClr val="F8FAFC"/>
                </a:solidFill>
                <a:latin typeface="Segoe UI"/>
              </a:defRPr>
            </a:pPr>
            <a:r>
              <a:t>AuraSync — الأمان المطلق لبياناتك الرقمية اليوم ومستقبلاً</a:t>
            </a:r>
          </a:p>
          <a:p>
            <a:pPr algn="r">
              <a:spcBef>
                <a:spcPts val="300"/>
              </a:spcBef>
              <a:defRPr sz="1150">
                <a:solidFill>
                  <a:srgbClr val="94A3B8"/>
                </a:solidFill>
                <a:latin typeface="Segoe UI"/>
              </a:defRPr>
            </a:pPr>
            <a:r>
              <a:t>مشروع متكامل، ناضج، ومتاح للإنتاج والاستخدام التجاري والمؤسسي الفوري</a:t>
            </a:r>
          </a:p>
        </p:txBody>
      </p:sp>
      <p:pic>
        <p:nvPicPr>
          <p:cNvPr id="5" name="Picture 4" descr="app-icon.png"/>
          <p:cNvPicPr>
            <a:picLocks noChangeAspect="1"/>
          </p:cNvPicPr>
          <p:nvPr/>
        </p:nvPicPr>
        <p:blipFill>
          <a:blip r:embed="rId2"/>
          <a:stretch>
            <a:fillRect/>
          </a:stretch>
        </p:blipFill>
        <p:spPr>
          <a:xfrm>
            <a:off x="11064240" y="347472"/>
            <a:ext cx="548640" cy="548640"/>
          </a:xfrm>
          <a:prstGeom prst="rect">
            <a:avLst/>
          </a:prstGeom>
        </p:spPr>
      </p:pic>
      <p:sp>
        <p:nvSpPr>
          <p:cNvPr id="6" name="Rounded Rectangle 5"/>
          <p:cNvSpPr/>
          <p:nvPr/>
        </p:nvSpPr>
        <p:spPr>
          <a:xfrm>
            <a:off x="731520" y="1645920"/>
            <a:ext cx="3931920" cy="4572000"/>
          </a:xfrm>
          <a:prstGeom prst="roundRect">
            <a:avLst/>
          </a:prstGeom>
          <a:solidFill>
            <a:srgbClr val="0D15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ot-settings.png"/>
          <p:cNvPicPr>
            <a:picLocks noChangeAspect="1"/>
          </p:cNvPicPr>
          <p:nvPr/>
        </p:nvPicPr>
        <p:blipFill>
          <a:blip r:embed="rId3"/>
          <a:stretch>
            <a:fillRect/>
          </a:stretch>
        </p:blipFill>
        <p:spPr>
          <a:xfrm>
            <a:off x="804672" y="1719072"/>
            <a:ext cx="3785615" cy="4187952"/>
          </a:xfrm>
          <a:prstGeom prst="rect">
            <a:avLst/>
          </a:prstGeom>
        </p:spPr>
      </p:pic>
      <p:sp>
        <p:nvSpPr>
          <p:cNvPr id="8" name="TextBox 7"/>
          <p:cNvSpPr txBox="1"/>
          <p:nvPr/>
        </p:nvSpPr>
        <p:spPr>
          <a:xfrm>
            <a:off x="731520" y="5852159"/>
            <a:ext cx="3931920" cy="320040"/>
          </a:xfrm>
          <a:prstGeom prst="rect">
            <a:avLst/>
          </a:prstGeom>
          <a:noFill/>
        </p:spPr>
        <p:txBody>
          <a:bodyPr wrap="none">
            <a:spAutoFit/>
          </a:bodyPr>
          <a:lstStyle/>
          <a:p>
            <a:pPr algn="ctr">
              <a:defRPr sz="950" b="1">
                <a:solidFill>
                  <a:srgbClr val="F8FAFC"/>
                </a:solidFill>
                <a:latin typeface="Segoe UI"/>
              </a:defRPr>
            </a:pPr>
            <a:r>
              <a:t>AuraSync Unified Settings &amp; Cloud Manager</a:t>
            </a:r>
          </a:p>
        </p:txBody>
      </p:sp>
      <p:sp>
        <p:nvSpPr>
          <p:cNvPr id="9" name="Rounded Rectangle 8"/>
          <p:cNvSpPr/>
          <p:nvPr/>
        </p:nvSpPr>
        <p:spPr>
          <a:xfrm>
            <a:off x="4846320" y="1645920"/>
            <a:ext cx="6583680" cy="2194560"/>
          </a:xfrm>
          <a:prstGeom prst="roundRect">
            <a:avLst/>
          </a:prstGeom>
          <a:solidFill>
            <a:srgbClr val="0D15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28016"/>
          <a:lstStyle/>
          <a:p>
            <a:pPr algn="r">
              <a:defRPr sz="1300" b="1">
                <a:solidFill>
                  <a:srgbClr val="10B981"/>
                </a:solidFill>
                <a:latin typeface="Segoe UI"/>
              </a:defRPr>
            </a:pPr>
            <a:r>
              <a:t>🏆 الخلاصة التنفيذية للمشروع (Executive Value Summary)</a:t>
            </a:r>
          </a:p>
          <a:p>
            <a:pPr algn="r">
              <a:spcBef>
                <a:spcPts val="200"/>
              </a:spcBef>
              <a:defRPr sz="900" b="1">
                <a:solidFill>
                  <a:srgbClr val="10B981"/>
                </a:solidFill>
                <a:latin typeface="Segoe UI"/>
              </a:defRPr>
            </a:pPr>
            <a:r>
              <a:t>[جاهز للاستخدام التجاري]</a:t>
            </a:r>
          </a:p>
          <a:p>
            <a:pPr algn="r">
              <a:spcBef>
                <a:spcPts val="300"/>
              </a:spcBef>
              <a:spcAft>
                <a:spcPts val="100"/>
              </a:spcAft>
              <a:defRPr sz="1000">
                <a:solidFill>
                  <a:srgbClr val="94A3B8"/>
                </a:solidFill>
                <a:latin typeface="Segoe UI"/>
              </a:defRPr>
            </a:pPr>
            <a:r>
              <a:t>• حل شامل وجاهز للإنتاج التجاري (Commercial Production-Grade) بمعايير معمارية عالمية.</a:t>
            </a:r>
          </a:p>
          <a:p>
            <a:pPr algn="r">
              <a:spcBef>
                <a:spcPts val="300"/>
              </a:spcBef>
              <a:spcAft>
                <a:spcPts val="100"/>
              </a:spcAft>
              <a:defRPr sz="1000">
                <a:solidFill>
                  <a:srgbClr val="94A3B8"/>
                </a:solidFill>
                <a:latin typeface="Segoe UI"/>
              </a:defRPr>
            </a:pPr>
            <a:r>
              <a:t>• أول منصة في العالم تجمع بين سياسة انعدام الحذف، دمج 25 سحابة، وحارس المتصفحات Win+L.</a:t>
            </a:r>
          </a:p>
          <a:p>
            <a:pPr algn="r">
              <a:spcBef>
                <a:spcPts val="300"/>
              </a:spcBef>
              <a:spcAft>
                <a:spcPts val="100"/>
              </a:spcAft>
              <a:defRPr sz="1000">
                <a:solidFill>
                  <a:srgbClr val="94A3B8"/>
                </a:solidFill>
                <a:latin typeface="Segoe UI"/>
              </a:defRPr>
            </a:pPr>
            <a:r>
              <a:t>• نسخة هاتف مستقلة (APK v1.0.7) بمستشعر بصمة حقيقي ومشاركة 900+ صورة بضغطة زر واحدة.</a:t>
            </a:r>
          </a:p>
          <a:p>
            <a:pPr algn="r">
              <a:spcBef>
                <a:spcPts val="300"/>
              </a:spcBef>
              <a:spcAft>
                <a:spcPts val="100"/>
              </a:spcAft>
              <a:defRPr sz="1000">
                <a:solidFill>
                  <a:srgbClr val="94A3B8"/>
                </a:solidFill>
                <a:latin typeface="Segoe UI"/>
              </a:defRPr>
            </a:pPr>
            <a:r>
              <a:t>• نسخة كمبيوتر مستقلة (Desktop v1.7.97) مختبرة بنسبة 100% عبر 382+ فحص تكاملي لضمان الصفر أخطاء.</a:t>
            </a:r>
          </a:p>
        </p:txBody>
      </p:sp>
      <p:sp>
        <p:nvSpPr>
          <p:cNvPr id="10" name="Rounded Rectangle 9"/>
          <p:cNvSpPr/>
          <p:nvPr/>
        </p:nvSpPr>
        <p:spPr>
          <a:xfrm>
            <a:off x="4846320" y="4023360"/>
            <a:ext cx="6583680" cy="2194560"/>
          </a:xfrm>
          <a:prstGeom prst="roundRect">
            <a:avLst/>
          </a:prstGeom>
          <a:solidFill>
            <a:srgbClr val="101A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r">
              <a:defRPr sz="1300" b="1">
                <a:solidFill>
                  <a:srgbClr val="06B6D4"/>
                </a:solidFill>
                <a:latin typeface="Segoe UI"/>
              </a:defRPr>
            </a:pPr>
            <a:r>
              <a:t>🔗 مصادر المشروع والمخرجات الجاهزة للتشغيل (Deliverables)</a:t>
            </a:r>
          </a:p>
          <a:p>
            <a:pPr algn="r">
              <a:spcBef>
                <a:spcPts val="300"/>
              </a:spcBef>
              <a:defRPr sz="950">
                <a:solidFill>
                  <a:srgbClr val="F8FAFC"/>
                </a:solidFill>
                <a:latin typeface="Segoe UI"/>
              </a:defRPr>
            </a:pPr>
            <a:r>
              <a:t>• نسخة الكمبيوتر الرسمية: AuraSync-Setup-v1.7.97.exe و AuraSync-Portable.exe (على GitHub Releases)</a:t>
            </a:r>
          </a:p>
          <a:p>
            <a:pPr algn="r">
              <a:spcBef>
                <a:spcPts val="300"/>
              </a:spcBef>
              <a:defRPr sz="950">
                <a:solidFill>
                  <a:srgbClr val="F8FAFC"/>
                </a:solidFill>
                <a:latin typeface="Segoe UI"/>
              </a:defRPr>
            </a:pPr>
            <a:r>
              <a:t>• نسخة الهاتف الرسمية: AuraSync.apk و AuraSync-v1.0.7.apk (جاهزة للتثبيت الفوري على Android)</a:t>
            </a:r>
          </a:p>
          <a:p>
            <a:pPr algn="r">
              <a:spcBef>
                <a:spcPts val="300"/>
              </a:spcBef>
              <a:defRPr sz="950">
                <a:solidFill>
                  <a:srgbClr val="F8FAFC"/>
                </a:solidFill>
                <a:latin typeface="Segoe UI"/>
              </a:defRPr>
            </a:pPr>
            <a:r>
              <a:t>• الموقع الرسمي الفاخر: website/index.html (يدعم اللغتين العربية والإنجليزية بتصاميم 3D)</a:t>
            </a:r>
          </a:p>
          <a:p>
            <a:pPr algn="r">
              <a:spcBef>
                <a:spcPts val="300"/>
              </a:spcBef>
              <a:defRPr sz="950">
                <a:solidFill>
                  <a:srgbClr val="F8FAFC"/>
                </a:solidFill>
                <a:latin typeface="Segoe UI"/>
              </a:defRPr>
            </a:pPr>
            <a:r>
              <a:t>• المستودع البرمجي الرسمي: samer20032020-dev/aurasync على منصة GitHub</a:t>
            </a:r>
          </a:p>
          <a:p>
            <a:pPr algn="r">
              <a:spcBef>
                <a:spcPts val="300"/>
              </a:spcBef>
              <a:defRPr sz="950">
                <a:solidFill>
                  <a:srgbClr val="F8FAFC"/>
                </a:solidFill>
                <a:latin typeface="Segoe UI"/>
              </a:defRPr>
            </a:pPr>
            <a:r>
              <a:t>• العرض التقديمي الأصلي: ملف PowerPoint الاحترافي AuraSync-Full-Project-Presentation.pptx</a:t>
            </a:r>
          </a:p>
          <a:p>
            <a:pPr algn="r">
              <a:spcBef>
                <a:spcPts val="300"/>
              </a:spcBef>
              <a:defRPr sz="950">
                <a:solidFill>
                  <a:srgbClr val="F8FAFC"/>
                </a:solidFill>
                <a:latin typeface="Segoe UI"/>
              </a:defRPr>
            </a:pPr>
            <a:r>
              <a:t>• العرض التفاعلي الحي: منصة العرض السينمائي AuraSync-Interactive-Presentation.html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